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7625" cy="6858000"/>
          </a:xfrm>
          <a:prstGeom prst="rect">
            <a:avLst/>
          </a:prstGeom>
          <a:solidFill>
            <a:srgbClr val="14D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7700" y="495300"/>
            <a:ext cx="62865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8CCEE"/>
                </a:solidFill>
                <a:latin typeface="DM Sans"/>
              </a:rPr>
              <a:t>DOCUMENT DE NIVELLEMENT INTERNE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7700" y="704850"/>
            <a:ext cx="6286500" cy="1047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EEF3FF"/>
                </a:solidFill>
                <a:latin typeface="Atkinson Hyperlegible"/>
              </a:rPr>
              <a:t>Qu'est-ce qu'un</a:t>
            </a:r>
          </a:p>
          <a:p>
            <a:pPr algn="l"/>
            <a:r>
              <a:rPr sz="4400" b="1">
                <a:solidFill>
                  <a:srgbClr val="EEF3FF"/>
                </a:solidFill>
                <a:latin typeface="Atkinson Hyperlegible"/>
              </a:rPr>
              <a:t>système de design</a:t>
            </a:r>
          </a:p>
          <a:p>
            <a:pPr algn="l"/>
            <a:r>
              <a:rPr sz="4400" b="1">
                <a:solidFill>
                  <a:srgbClr val="14D9C8"/>
                </a:solidFill>
                <a:latin typeface="Atkinson Hyperlegible"/>
              </a:rPr>
              <a:t>agentique</a:t>
            </a:r>
            <a:r>
              <a:rPr sz="4400" b="1">
                <a:solidFill>
                  <a:srgbClr val="EEF3FF"/>
                </a:solidFill>
                <a:latin typeface="Atkinson Hyperlegible"/>
              </a:rPr>
              <a:t>…</a:t>
            </a:r>
          </a:p>
          <a:p>
            <a:pPr algn="l"/>
            <a:r>
              <a:rPr sz="4400" b="1">
                <a:solidFill>
                  <a:srgbClr val="EEF3FF"/>
                </a:solidFill>
                <a:latin typeface="Atkinson Hyperlegible"/>
              </a:rPr>
              <a:t>vraiment 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7700" y="1943100"/>
            <a:ext cx="62865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A90B8"/>
                </a:solidFill>
                <a:latin typeface="DM Sans"/>
              </a:rPr>
              <a:t>Guilherme Negreiros — 30 avril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7700" y="2209800"/>
            <a:ext cx="6286500" cy="53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7A90B8"/>
                </a:solidFill>
                <a:latin typeface="DM Sans"/>
              </a:rPr>
              <a:t>Guilherme Negreiros — 30 avril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7239000" y="0"/>
            <a:ext cx="4953000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9000" y="0"/>
            <a:ext cx="4953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7625" cy="6858000"/>
          </a:xfrm>
          <a:prstGeom prst="rect">
            <a:avLst/>
          </a:prstGeom>
          <a:solidFill>
            <a:srgbClr val="14D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95300"/>
            <a:ext cx="66675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8CCEE"/>
                </a:solidFill>
                <a:latin typeface="DM Sans"/>
              </a:rPr>
              <a:t>OBJECTIFS PÉDAGOGIQUES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04850"/>
            <a:ext cx="10820400" cy="1047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EF3FF"/>
                </a:solidFill>
                <a:latin typeface="Atkinson Hyperlegible"/>
              </a:rPr>
              <a:t>À la fin de cette session, vous serez capables de…
                   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52550"/>
            <a:ext cx="2571750" cy="514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4D9C8"/>
                </a:solidFill>
                <a:latin typeface="Atkinson Hyperlegible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885950"/>
            <a:ext cx="2571750" cy="419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EEF3FF"/>
                </a:solidFill>
                <a:latin typeface="DM Sans"/>
              </a:rPr>
              <a:t>Comprendre ce qu'est un
                                </a:t>
            </a:r>
            <a:r>
              <a:rPr sz="1200" b="1">
                <a:solidFill>
                  <a:srgbClr val="EEF3FF"/>
                </a:solidFill>
                <a:latin typeface="DM Sans"/>
              </a:rPr>
              <a:t>système de design</a:t>
            </a:r>
            <a:r>
              <a:rPr sz="1200">
                <a:solidFill>
                  <a:srgbClr val="EEF3FF"/>
                </a:solidFill>
                <a:latin typeface="DM Sans"/>
              </a:rPr>
              <a:t> à la base.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343150"/>
            <a:ext cx="257175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90B8"/>
                </a:solidFill>
                <a:latin typeface="DM Sans"/>
              </a:rPr>
              <a:t>Pas juste un guide de style ou une bibliothèque
                                de composants.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48050" y="1352550"/>
            <a:ext cx="2571750" cy="514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4D9C8"/>
                </a:solidFill>
                <a:latin typeface="Atkinson Hyperlegible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48050" y="1885950"/>
            <a:ext cx="2571750" cy="419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EEF3FF"/>
                </a:solidFill>
                <a:latin typeface="DM Sans"/>
              </a:rPr>
              <a:t>Expliquer pourquoi le concept
                                </a:t>
            </a:r>
            <a:r>
              <a:rPr sz="1200" b="1">
                <a:solidFill>
                  <a:srgbClr val="EEF3FF"/>
                </a:solidFill>
                <a:latin typeface="DM Sans"/>
              </a:rPr>
              <a:t>évolue</a:t>
            </a:r>
            <a:r>
              <a:rPr sz="1200">
                <a:solidFill>
                  <a:srgbClr val="EEF3FF"/>
                </a:solidFill>
                <a:latin typeface="DM Sans"/>
              </a:rPr>
              <a:t> avec les agents d'IA.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48050" y="2343150"/>
            <a:ext cx="257175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90B8"/>
                </a:solidFill>
                <a:latin typeface="DM Sans"/>
              </a:rPr>
              <a:t>Comprendre ce que font (et ne font pas) les
                                agents.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0300" y="1352550"/>
            <a:ext cx="2571750" cy="514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4D9C8"/>
                </a:solidFill>
                <a:latin typeface="Atkinson Hyperlegible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0300" y="1885950"/>
            <a:ext cx="2571750" cy="419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EEF3FF"/>
                </a:solidFill>
                <a:latin typeface="DM Sans"/>
              </a:rPr>
              <a:t>Définir ce qu'est un
                                </a:t>
            </a:r>
            <a:r>
              <a:rPr sz="1200" b="1">
                <a:solidFill>
                  <a:srgbClr val="EEF3FF"/>
                </a:solidFill>
                <a:latin typeface="DM Sans"/>
              </a:rPr>
              <a:t>système de design agentique</a:t>
            </a:r>
            <a:r>
              <a:rPr sz="1200">
                <a:solidFill>
                  <a:srgbClr val="EEF3FF"/>
                </a:solidFill>
                <a:latin typeface="DM Sans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0300" y="2343150"/>
            <a:ext cx="257175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90B8"/>
                </a:solidFill>
                <a:latin typeface="DM Sans"/>
              </a:rPr>
              <a:t>Et ce que ce n'est absolument pas.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72550" y="1352550"/>
            <a:ext cx="2571750" cy="514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4D9C8"/>
                </a:solidFill>
                <a:latin typeface="Atkinson Hyperlegible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72550" y="1885950"/>
            <a:ext cx="2571750" cy="419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EEF3FF"/>
                </a:solidFill>
                <a:latin typeface="DM Sans"/>
              </a:rPr>
              <a:t>Identifier les
                                </a:t>
            </a:r>
            <a:r>
              <a:rPr sz="1200" b="1">
                <a:solidFill>
                  <a:srgbClr val="EEF3FF"/>
                </a:solidFill>
                <a:latin typeface="DM Sans"/>
              </a:rPr>
              <a:t>implications concrètes</a:t>
            </a:r>
            <a:r>
              <a:rPr sz="1200">
                <a:solidFill>
                  <a:srgbClr val="EEF3FF"/>
                </a:solidFill>
                <a:latin typeface="DM Sans"/>
              </a:rPr>
              <a:t> pour vos équipes.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72550" y="2343150"/>
            <a:ext cx="257175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90B8"/>
                </a:solidFill>
                <a:latin typeface="DM Sans"/>
              </a:rPr>
              <a:t>Design, CX, communications, gestion.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7625" cy="6858000"/>
          </a:xfrm>
          <a:prstGeom prst="rect">
            <a:avLst/>
          </a:prstGeom>
          <a:solidFill>
            <a:srgbClr val="14D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7700" y="495300"/>
            <a:ext cx="66675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8CCEE"/>
                </a:solidFill>
                <a:latin typeface="DM Sans"/>
              </a:rPr>
              <a:t>LE PROBLÈME DE DÉPART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7700" y="704850"/>
            <a:ext cx="6667500" cy="1047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EEF3FF"/>
                </a:solidFill>
                <a:latin typeface="Atkinson Hyperlegible"/>
              </a:rPr>
              <a:t>Ces termes ne sont</a:t>
            </a:r>
          </a:p>
          <a:p>
            <a:pPr algn="l"/>
            <a:r>
              <a:rPr sz="3200" b="1">
                <a:solidFill>
                  <a:srgbClr val="EEF3FF"/>
                </a:solidFill>
                <a:latin typeface="Atkinson Hyperlegible"/>
              </a:rPr>
              <a:t>pas synonymes.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7700" y="1514475"/>
            <a:ext cx="6667500" cy="53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B8CCEE"/>
                </a:solidFill>
                <a:latin typeface="DM Sans"/>
              </a:rPr>
              <a:t>Dans beaucoup d'organisations, quatre concepts sont utilisés comme s'ils désignaient
                        la même chose. Cette confusion devient coûteuse.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7700" y="2085975"/>
            <a:ext cx="38100" cy="647700"/>
          </a:xfrm>
          <a:prstGeom prst="rect">
            <a:avLst/>
          </a:prstGeom>
          <a:solidFill>
            <a:srgbClr val="ED6B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0100" y="2085975"/>
            <a:ext cx="6515100" cy="647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EEF3FF"/>
                </a:solidFill>
                <a:latin typeface="DM Sans"/>
              </a:rPr>
              <a:t>Avant de parler d'agentique, il faut s'assurer que tout le monde part du même endroit.</a:t>
            </a:r>
          </a:p>
        </p:txBody>
      </p:sp>
      <p:sp>
        <p:nvSpPr>
          <p:cNvPr id="8" name="Rectangle 7"/>
          <p:cNvSpPr/>
          <p:nvPr/>
        </p:nvSpPr>
        <p:spPr>
          <a:xfrm>
            <a:off x="7620000" y="0"/>
            <a:ext cx="4572000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7625" cy="6858000"/>
          </a:xfrm>
          <a:prstGeom prst="rect">
            <a:avLst/>
          </a:prstGeom>
          <a:solidFill>
            <a:srgbClr val="14D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7700" y="495300"/>
            <a:ext cx="6858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8CCEE"/>
                </a:solidFill>
                <a:latin typeface="DM Sans"/>
              </a:rPr>
              <a:t>DÉFINITION FONDAMENTALE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7700" y="704850"/>
            <a:ext cx="6858000" cy="1047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EEF3FF"/>
                </a:solidFill>
                <a:latin typeface="Atkinson Hyperlegible"/>
              </a:rPr>
              <a:t>Un système de design,</a:t>
            </a:r>
          </a:p>
          <a:p>
            <a:pPr algn="l"/>
            <a:r>
              <a:rPr sz="3200" b="1">
                <a:solidFill>
                  <a:srgbClr val="EEF3FF"/>
                </a:solidFill>
                <a:latin typeface="Atkinson Hyperlegible"/>
              </a:rPr>
              <a:t>c'est d'abord ceci.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7700" y="1514475"/>
            <a:ext cx="6858000" cy="53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B8CCEE"/>
                </a:solidFill>
                <a:latin typeface="DM Sans"/>
              </a:rPr>
              <a:t>Ce qui le distingue d'un recueil visuel, c'est sa dimension de
                        </a:t>
            </a:r>
            <a:r>
              <a:rPr sz="1300" b="1">
                <a:solidFill>
                  <a:srgbClr val="EEF3FF"/>
                </a:solidFill>
                <a:latin typeface="DM Sans"/>
              </a:rPr>
              <a:t>gouvernance</a:t>
            </a:r>
            <a:r>
              <a:rPr sz="1300">
                <a:solidFill>
                  <a:srgbClr val="B8CCEE"/>
                </a:solidFill>
                <a:latin typeface="DM Sans"/>
              </a:rPr>
              <a:t> : il encode des décisions, pas seulement des apparences.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7700" y="2085975"/>
            <a:ext cx="6858000" cy="53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7A90B8"/>
                </a:solidFill>
                <a:latin typeface="DM Sans"/>
              </a:rPr>
              <a:t>Il répond à des questions comme : « Dans
                        quel contexte utilise-t-on ce composant ? », « Quelles variantes sont permises ? », « Que se
                        passe-t-il quand on dépasse cette limite ? 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7700" y="2657475"/>
            <a:ext cx="6858000" cy="53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7A90B8"/>
                </a:solidFill>
                <a:latin typeface="DM Sans"/>
              </a:rPr>
              <a:t>Ces décisions ne se voient pas toujours
                        dans une interface — mais ce sont elles qui font tenir l'ensemble.</a:t>
            </a:r>
          </a:p>
        </p:txBody>
      </p:sp>
      <p:sp>
        <p:nvSpPr>
          <p:cNvPr id="8" name="Rectangle 7"/>
          <p:cNvSpPr/>
          <p:nvPr/>
        </p:nvSpPr>
        <p:spPr>
          <a:xfrm>
            <a:off x="7810500" y="0"/>
            <a:ext cx="4381500" cy="6858000"/>
          </a:xfrm>
          <a:prstGeom prst="rect">
            <a:avLst/>
          </a:prstGeom>
          <a:solidFill>
            <a:srgbClr val="2B7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67700" y="1333500"/>
            <a:ext cx="3467100" cy="1238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EEF3FF"/>
                </a:solidFill>
                <a:latin typeface="Atkinson Hyperlegible"/>
              </a:rPr>
              <a:t>
                            Un ensemble structuré de </a:t>
            </a:r>
            <a:r>
              <a:rPr sz="1900" b="1">
                <a:solidFill>
                  <a:srgbClr val="14D9C8"/>
                </a:solidFill>
                <a:latin typeface="Atkinson Hyperlegible"/>
              </a:rPr>
              <a:t>décisions partagées</a:t>
            </a:r>
            <a:r>
              <a:rPr sz="1900" b="1">
                <a:solidFill>
                  <a:srgbClr val="EEF3FF"/>
                </a:solidFill>
                <a:latin typeface="Atkinson Hyperlegible"/>
              </a:rPr>
              <a:t>, permettant de produire des
                            expériences cohérentes à grande échelle.
                           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67700" y="2667000"/>
            <a:ext cx="34671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7A90B8"/>
                </a:solidFill>
                <a:latin typeface="DM Sans"/>
              </a:rPr>
              <a:t>— Nielsen Norman Group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67700" y="2895600"/>
            <a:ext cx="346710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67700" y="3048000"/>
            <a:ext cx="346710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7A90B8"/>
                </a:solidFill>
                <a:latin typeface="DM Sans"/>
              </a:rPr>
              <a:t>Le système de design transforme des décisions
                            individuelles en </a:t>
            </a:r>
            <a:r>
              <a:rPr sz="1200" b="1">
                <a:solidFill>
                  <a:srgbClr val="EEF3FF"/>
                </a:solidFill>
                <a:latin typeface="DM Sans"/>
              </a:rPr>
              <a:t>cadre collectif</a:t>
            </a:r>
            <a:r>
              <a:rPr sz="1200">
                <a:solidFill>
                  <a:srgbClr val="7A90B8"/>
                </a:solidFill>
                <a:latin typeface="DM Sans"/>
              </a:rPr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7625" cy="6858000"/>
          </a:xfrm>
          <a:prstGeom prst="rect">
            <a:avLst/>
          </a:prstGeom>
          <a:solidFill>
            <a:srgbClr val="14D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95300"/>
            <a:ext cx="66675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8CCEE"/>
                </a:solidFill>
                <a:latin typeface="DM Sans"/>
              </a:rPr>
              <a:t>UTILITÉ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04850"/>
            <a:ext cx="10820400" cy="1047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EF3FF"/>
                </a:solidFill>
                <a:latin typeface="Atkinson Hyperlegible"/>
              </a:rPr>
              <a:t>Un système de design sert à…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352550"/>
            <a:ext cx="5905500" cy="1314450"/>
          </a:xfrm>
          <a:prstGeom prst="rect">
            <a:avLst/>
          </a:prstGeom>
          <a:solidFill>
            <a:srgbClr val="3421C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7250" y="1524000"/>
            <a:ext cx="419100" cy="419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EEF3FF"/>
                </a:solidFill>
                <a:latin typeface="DM Sans"/>
              </a:rPr>
              <a:t>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3500" y="1524000"/>
            <a:ext cx="5067300" cy="266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EF3FF"/>
                </a:solidFill>
                <a:latin typeface="Atkinson Hyperlegible"/>
              </a:rPr>
              <a:t>Aligner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33500" y="1828800"/>
            <a:ext cx="50673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B8CCEE"/>
                </a:solidFill>
                <a:latin typeface="DM Sans"/>
              </a:rPr>
              <a:t>Plusieurs équipes autour des mêmes choix, </a:t>
            </a:r>
            <a:r>
              <a:rPr sz="1100" b="1">
                <a:solidFill>
                  <a:srgbClr val="EEF3FF"/>
                </a:solidFill>
                <a:latin typeface="DM Sans"/>
              </a:rPr>
              <a:t>sans coordination constante</a:t>
            </a:r>
            <a:r>
              <a:rPr sz="1100">
                <a:solidFill>
                  <a:srgbClr val="B8CCEE"/>
                </a:solidFill>
                <a:latin typeface="DM Sans"/>
              </a:rPr>
              <a:t>. Un langage partagé remplace les échanges répétés.
                                </a:t>
            </a:r>
          </a:p>
        </p:txBody>
      </p:sp>
      <p:sp>
        <p:nvSpPr>
          <p:cNvPr id="9" name="Rectangle 8"/>
          <p:cNvSpPr/>
          <p:nvPr/>
        </p:nvSpPr>
        <p:spPr>
          <a:xfrm>
            <a:off x="6686550" y="1352550"/>
            <a:ext cx="5905500" cy="1314450"/>
          </a:xfrm>
          <a:prstGeom prst="rect">
            <a:avLst/>
          </a:prstGeom>
          <a:solidFill>
            <a:srgbClr val="3421C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0" y="1524000"/>
            <a:ext cx="419100" cy="419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EEF3FF"/>
                </a:solidFill>
                <a:latin typeface="DM Sans"/>
              </a:rPr>
              <a:t>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4250" y="1524000"/>
            <a:ext cx="5067300" cy="266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EF3FF"/>
                </a:solidFill>
                <a:latin typeface="Atkinson Hyperlegible"/>
              </a:rPr>
              <a:t>Éviter de redécider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34250" y="1828800"/>
            <a:ext cx="50673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B8CCEE"/>
                </a:solidFill>
                <a:latin typeface="DM Sans"/>
              </a:rPr>
              <a:t>Des choses déjà tranchées. Réduit la </a:t>
            </a:r>
            <a:r>
              <a:rPr sz="1100" b="1">
                <a:solidFill>
                  <a:srgbClr val="EEF3FF"/>
                </a:solidFill>
                <a:latin typeface="DM Sans"/>
              </a:rPr>
              <a:t>dette de gouvernance</a:t>
            </a:r>
            <a:r>
              <a:rPr sz="1100">
                <a:solidFill>
                  <a:srgbClr val="B8CCEE"/>
                </a:solidFill>
                <a:latin typeface="DM Sans"/>
              </a:rPr>
              <a:t> et les incohérences qui en découlent.
                                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2762250"/>
            <a:ext cx="5905500" cy="1314450"/>
          </a:xfrm>
          <a:prstGeom prst="rect">
            <a:avLst/>
          </a:prstGeom>
          <a:solidFill>
            <a:srgbClr val="3421C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7250" y="2933700"/>
            <a:ext cx="419100" cy="419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EEF3FF"/>
                </a:solidFill>
                <a:latin typeface="DM Sans"/>
              </a:rPr>
              <a:t>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33500" y="2933700"/>
            <a:ext cx="5067300" cy="266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EF3FF"/>
                </a:solidFill>
                <a:latin typeface="Atkinson Hyperlegible"/>
              </a:rPr>
              <a:t>Réduire les incohérences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33500" y="3238500"/>
            <a:ext cx="50673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B8CCEE"/>
                </a:solidFill>
                <a:latin typeface="DM Sans"/>
              </a:rPr>
              <a:t>Dans l'expérience utilisateur, même quand les équipes travaillent
                                    en </a:t>
            </a:r>
            <a:r>
              <a:rPr sz="1100" b="1">
                <a:solidFill>
                  <a:srgbClr val="EEF3FF"/>
                </a:solidFill>
                <a:latin typeface="DM Sans"/>
              </a:rPr>
              <a:t>silos</a:t>
            </a:r>
            <a:r>
              <a:rPr sz="1100">
                <a:solidFill>
                  <a:srgbClr val="B8CCEE"/>
                </a:solidFill>
                <a:latin typeface="DM Sans"/>
              </a:rPr>
              <a:t> sans se coordonner.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686550" y="2762250"/>
            <a:ext cx="5905500" cy="1314450"/>
          </a:xfrm>
          <a:prstGeom prst="rect">
            <a:avLst/>
          </a:prstGeom>
          <a:solidFill>
            <a:srgbClr val="3421C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0" y="2933700"/>
            <a:ext cx="419100" cy="419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EEF3FF"/>
                </a:solidFill>
                <a:latin typeface="DM Sans"/>
              </a:rPr>
              <a:t>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34250" y="2933700"/>
            <a:ext cx="5067300" cy="266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EF3FF"/>
                </a:solidFill>
                <a:latin typeface="Atkinson Hyperlegible"/>
              </a:rPr>
              <a:t>Accélérer la production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34250" y="3238500"/>
            <a:ext cx="50673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B8CCEE"/>
                </a:solidFill>
                <a:latin typeface="DM Sans"/>
              </a:rPr>
              <a:t>Sans sacrifier la qualité. Les décisions de base sont déjà posées
                                    — </a:t>
            </a:r>
            <a:r>
              <a:rPr sz="1100" b="1">
                <a:solidFill>
                  <a:srgbClr val="EEF3FF"/>
                </a:solidFill>
                <a:latin typeface="DM Sans"/>
              </a:rPr>
              <a:t>plus de temps à créer</a:t>
            </a:r>
            <a:r>
              <a:rPr sz="1100">
                <a:solidFill>
                  <a:srgbClr val="B8CCEE"/>
                </a:solidFill>
                <a:latin typeface="DM Sans"/>
              </a:rPr>
              <a:t>.
                               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7625" cy="6858000"/>
          </a:xfrm>
          <a:prstGeom prst="rect">
            <a:avLst/>
          </a:prstGeom>
          <a:solidFill>
            <a:srgbClr val="14D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7700" y="495300"/>
            <a:ext cx="5334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8CCEE"/>
                </a:solidFill>
                <a:latin typeface="DM Sans"/>
              </a:rPr>
              <a:t>COMPOSITION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7700" y="704850"/>
            <a:ext cx="5334000" cy="1047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EF3FF"/>
                </a:solidFill>
                <a:latin typeface="Atkinson Hyperlegible"/>
              </a:rPr>
              <a:t>De quoi est composé</a:t>
            </a:r>
          </a:p>
          <a:p>
            <a:pPr algn="l"/>
            <a:r>
              <a:rPr sz="2800" b="1">
                <a:solidFill>
                  <a:srgbClr val="EEF3FF"/>
                </a:solidFill>
                <a:latin typeface="Atkinson Hyperlegible"/>
              </a:rPr>
              <a:t>un système de design 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7700" y="1514475"/>
            <a:ext cx="5334000" cy="53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B8CCEE"/>
                </a:solidFill>
                <a:latin typeface="DM Sans"/>
              </a:rPr>
              <a:t>Les composants sont la partie la plus </a:t>
            </a:r>
            <a:r>
              <a:rPr sz="1300" b="1">
                <a:solidFill>
                  <a:srgbClr val="EEF3FF"/>
                </a:solidFill>
                <a:latin typeface="DM Sans"/>
              </a:rPr>
              <a:t>visible</a:t>
            </a:r>
            <a:r>
              <a:rPr sz="1300">
                <a:solidFill>
                  <a:srgbClr val="B8CCEE"/>
                </a:solidFill>
                <a:latin typeface="DM Sans"/>
              </a:rPr>
              <a:t> — mais ils ne sont
                        pas le cœur. Le cœur, ce sont les </a:t>
            </a:r>
            <a:r>
              <a:rPr sz="1300">
                <a:solidFill>
                  <a:srgbClr val="ED6B41"/>
                </a:solidFill>
                <a:latin typeface="DM Sans"/>
              </a:rPr>
              <a:t>décisions et règles</a:t>
            </a:r>
            <a:r>
              <a:rPr sz="1300">
                <a:solidFill>
                  <a:srgbClr val="B8CCEE"/>
                </a:solidFill>
                <a:latin typeface="DM Sans"/>
              </a:rPr>
              <a:t> qu'ils incarnent.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7700" y="2085975"/>
            <a:ext cx="38100" cy="647700"/>
          </a:xfrm>
          <a:prstGeom prst="rect">
            <a:avLst/>
          </a:prstGeom>
          <a:solidFill>
            <a:srgbClr val="ED6B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0100" y="2085975"/>
            <a:ext cx="5181600" cy="647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EEF3FF"/>
                </a:solidFill>
                <a:latin typeface="DM Sans"/>
              </a:rPr>
              <a:t>Un bouton primaire n'est pas qu'une forme bleue — c'est l'expression d'une décision sur la
                        hiérarchie des actions.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86500" y="0"/>
            <a:ext cx="5905500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1300" y="1416558"/>
            <a:ext cx="5295900" cy="402488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7625" cy="6858000"/>
          </a:xfrm>
          <a:prstGeom prst="rect">
            <a:avLst/>
          </a:prstGeom>
          <a:solidFill>
            <a:srgbClr val="14D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95300"/>
            <a:ext cx="66675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8CCEE"/>
                </a:solidFill>
                <a:latin typeface="DM Sans"/>
              </a:rPr>
              <a:t>DÉMYSTIFICATION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04850"/>
            <a:ext cx="10820400" cy="1047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EF3FF"/>
                </a:solidFill>
                <a:latin typeface="Atkinson Hyperlegible"/>
              </a:rPr>
              <a:t>Un système de design n'est pas…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352550"/>
            <a:ext cx="10820400" cy="3238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38200" y="1438275"/>
            <a:ext cx="5410200" cy="171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D6B41"/>
                </a:solidFill>
                <a:latin typeface="Atkinson Hyperlegible"/>
              </a:rPr>
              <a:t>CE QU'ON CROIT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48400" y="1438275"/>
            <a:ext cx="5410200" cy="171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4D9C8"/>
                </a:solidFill>
                <a:latin typeface="Atkinson Hyperlegible"/>
              </a:rPr>
              <a:t>CE QUE C'EST VRAIMENT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1676400"/>
            <a:ext cx="5410200" cy="971550"/>
          </a:xfrm>
          <a:prstGeom prst="rect">
            <a:avLst/>
          </a:prstGeom>
          <a:solidFill>
            <a:srgbClr val="FF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096000" y="1676400"/>
            <a:ext cx="5410200" cy="971550"/>
          </a:xfrm>
          <a:prstGeom prst="rect">
            <a:avLst/>
          </a:prstGeom>
          <a:solidFill>
            <a:srgbClr val="06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9150" y="1943100"/>
            <a:ext cx="266700" cy="419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EF3FF"/>
                </a:solidFill>
                <a:latin typeface="DM Sans"/>
              </a:rPr>
              <a:t>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62050" y="1790700"/>
            <a:ext cx="4800600" cy="266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D6B41"/>
                </a:solidFill>
                <a:latin typeface="Atkinson Hyperlegible"/>
              </a:rPr>
              <a:t>Guide de style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62050" y="2095500"/>
            <a:ext cx="4800600" cy="400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90B8"/>
                </a:solidFill>
                <a:latin typeface="DM Sans"/>
              </a:rPr>
              <a:t>Conventions visuelles ou éditoriales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48400" y="1790700"/>
            <a:ext cx="5105400" cy="266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4D9C8"/>
                </a:solidFill>
                <a:latin typeface="Atkinson Hyperlegible"/>
              </a:rPr>
              <a:t>Artefact partiel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48400" y="2095500"/>
            <a:ext cx="5105400" cy="419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90B8"/>
                </a:solidFill>
                <a:latin typeface="DM Sans"/>
              </a:rPr>
              <a:t>Utile, mais ne couvre pas les règles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2647950"/>
            <a:ext cx="5410200" cy="971550"/>
          </a:xfrm>
          <a:prstGeom prst="rect">
            <a:avLst/>
          </a:prstGeom>
          <a:solidFill>
            <a:srgbClr val="FF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096000" y="2647950"/>
            <a:ext cx="5410200" cy="971550"/>
          </a:xfrm>
          <a:prstGeom prst="rect">
            <a:avLst/>
          </a:prstGeom>
          <a:solidFill>
            <a:srgbClr val="06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9150" y="2914650"/>
            <a:ext cx="266700" cy="419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EF3FF"/>
                </a:solidFill>
                <a:latin typeface="DM Sans"/>
              </a:rPr>
              <a:t>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62050" y="2762250"/>
            <a:ext cx="4800600" cy="266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D6B41"/>
                </a:solidFill>
                <a:latin typeface="Atkinson Hyperlegible"/>
              </a:rPr>
              <a:t>Charte graphique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62050" y="3067050"/>
            <a:ext cx="4800600" cy="400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90B8"/>
                </a:solidFill>
                <a:latin typeface="DM Sans"/>
              </a:rPr>
              <a:t>Identité visuelle, logo, couleurs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48400" y="2762250"/>
            <a:ext cx="5105400" cy="266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4D9C8"/>
                </a:solidFill>
                <a:latin typeface="Atkinson Hyperlegible"/>
              </a:rPr>
              <a:t>Intrant, pas le système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8400" y="3067050"/>
            <a:ext cx="5105400" cy="419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90B8"/>
                </a:solidFill>
                <a:latin typeface="DM Sans"/>
              </a:rPr>
              <a:t>Alimente les fondations, mais ne les remplace pas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" y="3619500"/>
            <a:ext cx="5410200" cy="971550"/>
          </a:xfrm>
          <a:prstGeom prst="rect">
            <a:avLst/>
          </a:prstGeom>
          <a:solidFill>
            <a:srgbClr val="FF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096000" y="3619500"/>
            <a:ext cx="5410200" cy="971550"/>
          </a:xfrm>
          <a:prstGeom prst="rect">
            <a:avLst/>
          </a:prstGeom>
          <a:solidFill>
            <a:srgbClr val="06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9150" y="3886200"/>
            <a:ext cx="266700" cy="419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EF3FF"/>
                </a:solidFill>
                <a:latin typeface="DM Sans"/>
              </a:rPr>
              <a:t>🖥️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62050" y="3733800"/>
            <a:ext cx="4800600" cy="266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D6B41"/>
                </a:solidFill>
                <a:latin typeface="Atkinson Hyperlegible"/>
              </a:rPr>
              <a:t>Fichier Figma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62050" y="4038600"/>
            <a:ext cx="4800600" cy="400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90B8"/>
                </a:solidFill>
                <a:latin typeface="DM Sans"/>
              </a:rPr>
              <a:t>Outil de travail, même très bien organisé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48400" y="3733800"/>
            <a:ext cx="5105400" cy="266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4D9C8"/>
                </a:solidFill>
                <a:latin typeface="Atkinson Hyperlegible"/>
              </a:rPr>
              <a:t>Le contenant, pas le contenu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48400" y="4038600"/>
            <a:ext cx="5105400" cy="419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90B8"/>
                </a:solidFill>
                <a:latin typeface="DM Sans"/>
              </a:rPr>
              <a:t>Peut héberger des éléments du système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85800" y="4591050"/>
            <a:ext cx="5410200" cy="971550"/>
          </a:xfrm>
          <a:prstGeom prst="rect">
            <a:avLst/>
          </a:prstGeom>
          <a:solidFill>
            <a:srgbClr val="FF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096000" y="4591050"/>
            <a:ext cx="5410200" cy="971550"/>
          </a:xfrm>
          <a:prstGeom prst="rect">
            <a:avLst/>
          </a:prstGeom>
          <a:solidFill>
            <a:srgbClr val="06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9150" y="4857750"/>
            <a:ext cx="266700" cy="419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EF3FF"/>
                </a:solidFill>
                <a:latin typeface="DM Sans"/>
              </a:rPr>
              <a:t>🧩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62050" y="4705350"/>
            <a:ext cx="4800600" cy="266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D6B41"/>
                </a:solidFill>
                <a:latin typeface="Atkinson Hyperlegible"/>
              </a:rPr>
              <a:t>Bibliothèque de composants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62050" y="5010150"/>
            <a:ext cx="4800600" cy="400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90B8"/>
                </a:solidFill>
                <a:latin typeface="DM Sans"/>
              </a:rPr>
              <a:t>Ressource visuelle réutilisable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48400" y="4705350"/>
            <a:ext cx="5105400" cy="266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4D9C8"/>
                </a:solidFill>
                <a:latin typeface="Atkinson Hyperlegible"/>
              </a:rPr>
              <a:t>Une partie du système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48400" y="5010150"/>
            <a:ext cx="5105400" cy="419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90B8"/>
                </a:solidFill>
                <a:latin typeface="DM Sans"/>
              </a:rPr>
              <a:t>Sans règles d'usage, c'est une boîte sans mode d'emploi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7625" cy="6858000"/>
          </a:xfrm>
          <a:prstGeom prst="rect">
            <a:avLst/>
          </a:prstGeom>
          <a:solidFill>
            <a:srgbClr val="14D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7700" y="495300"/>
            <a:ext cx="70485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8CCEE"/>
                </a:solidFill>
                <a:latin typeface="DM Sans"/>
              </a:rPr>
              <a:t>CONTEXTE HISTORIQUE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7700" y="704850"/>
            <a:ext cx="7048500" cy="1047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EEF3FF"/>
                </a:solidFill>
                <a:latin typeface="Atkinson Hyperlegible"/>
              </a:rPr>
              <a:t>Le système était fait</a:t>
            </a:r>
          </a:p>
          <a:p>
            <a:pPr algn="l"/>
            <a:r>
              <a:rPr sz="3200" b="1">
                <a:solidFill>
                  <a:srgbClr val="EEF3FF"/>
                </a:solidFill>
                <a:latin typeface="Atkinson Hyperlegible"/>
              </a:rPr>
              <a:t>pour des </a:t>
            </a:r>
            <a:r>
              <a:rPr sz="3200" b="1">
                <a:solidFill>
                  <a:srgbClr val="14D9C8"/>
                </a:solidFill>
                <a:latin typeface="Atkinson Hyperlegible"/>
              </a:rPr>
              <a:t>humains</a:t>
            </a:r>
            <a:r>
              <a:rPr sz="3200" b="1">
                <a:solidFill>
                  <a:srgbClr val="EEF3FF"/>
                </a:solidFill>
                <a:latin typeface="Atkinson Hyperlegible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7700" y="1514475"/>
            <a:ext cx="7048500" cy="53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B8CCEE"/>
                </a:solidFill>
                <a:latin typeface="DM Sans"/>
              </a:rPr>
              <a:t>Les humains interprètent une règle floue, adaptent un composant à un contexte non
                        prévu, et devinent l'intention derrière un exemple.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7700" y="2085975"/>
            <a:ext cx="7048500" cy="53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7A90B8"/>
                </a:solidFill>
                <a:latin typeface="DM Sans"/>
              </a:rPr>
              <a:t>Les systèmes classiques pouvaient se
                        permettre d'être partiellement </a:t>
            </a:r>
            <a:r>
              <a:rPr sz="1200" b="1">
                <a:solidFill>
                  <a:srgbClr val="EEF3FF"/>
                </a:solidFill>
                <a:latin typeface="DM Sans"/>
              </a:rPr>
              <a:t>implicites</a:t>
            </a:r>
            <a:r>
              <a:rPr sz="1200">
                <a:solidFill>
                  <a:srgbClr val="7A90B8"/>
                </a:solidFill>
                <a:latin typeface="DM Sans"/>
              </a:rPr>
              <a:t>. Les
                        humains comblaient les lacunes.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7700" y="2657475"/>
            <a:ext cx="7048500" cy="323850"/>
          </a:xfrm>
          <a:prstGeom prst="rect">
            <a:avLst/>
          </a:prstGeom>
          <a:solidFill>
            <a:srgbClr val="3421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2000" y="2733675"/>
            <a:ext cx="68199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EF3FF"/>
                </a:solidFill>
                <a:latin typeface="DM Sans"/>
              </a:rPr>
              <a:t>🧠  Interprètent les règles floues</a:t>
            </a:r>
          </a:p>
        </p:txBody>
      </p:sp>
      <p:sp>
        <p:nvSpPr>
          <p:cNvPr id="9" name="Rectangle 8"/>
          <p:cNvSpPr/>
          <p:nvPr/>
        </p:nvSpPr>
        <p:spPr>
          <a:xfrm>
            <a:off x="647700" y="3019425"/>
            <a:ext cx="7048500" cy="323850"/>
          </a:xfrm>
          <a:prstGeom prst="rect">
            <a:avLst/>
          </a:prstGeom>
          <a:solidFill>
            <a:srgbClr val="3421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3095625"/>
            <a:ext cx="68199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EF3FF"/>
                </a:solidFill>
                <a:latin typeface="DM Sans"/>
              </a:rPr>
              <a:t>🎯  Adaptent selon le contexte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7700" y="3381375"/>
            <a:ext cx="7048500" cy="323850"/>
          </a:xfrm>
          <a:prstGeom prst="rect">
            <a:avLst/>
          </a:prstGeom>
          <a:solidFill>
            <a:srgbClr val="3421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2000" y="3457575"/>
            <a:ext cx="68199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EF3FF"/>
                </a:solidFill>
                <a:latin typeface="DM Sans"/>
              </a:rPr>
              <a:t>💬  Comprennent l'intention implicite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01000" y="0"/>
            <a:ext cx="4191000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0"/>
            <a:ext cx="4191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7625" cy="6858000"/>
          </a:xfrm>
          <a:prstGeom prst="rect">
            <a:avLst/>
          </a:prstGeom>
          <a:solidFill>
            <a:srgbClr val="14D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7700" y="495300"/>
            <a:ext cx="5715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8CCEE"/>
                </a:solidFill>
                <a:latin typeface="DM Sans"/>
              </a:rPr>
              <a:t>CHANGEMENT DE CONTEXTE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7700" y="704850"/>
            <a:ext cx="5715000" cy="1047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EF3FF"/>
                </a:solidFill>
                <a:latin typeface="Atkinson Hyperlegible"/>
              </a:rPr>
              <a:t>De nouveaux acteurs</a:t>
            </a:r>
          </a:p>
          <a:p>
            <a:pPr algn="l"/>
            <a:r>
              <a:rPr sz="2800" b="1">
                <a:solidFill>
                  <a:srgbClr val="EEF3FF"/>
                </a:solidFill>
                <a:latin typeface="Atkinson Hyperlegible"/>
              </a:rPr>
              <a:t>dans le workflow.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7700" y="1514475"/>
            <a:ext cx="5715000" cy="53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B8CCEE"/>
                </a:solidFill>
                <a:latin typeface="DM Sans"/>
              </a:rPr>
              <a:t>Les agents d'IA génèrent des écrans, produisent du code, assemblent des composants,
                        vérifient des règles et appliquent des contraintes.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7700" y="2085975"/>
            <a:ext cx="38100" cy="647700"/>
          </a:xfrm>
          <a:prstGeom prst="rect">
            <a:avLst/>
          </a:prstGeom>
          <a:solidFill>
            <a:srgbClr val="ED6B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0100" y="2085975"/>
            <a:ext cx="5562600" cy="647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EEF3FF"/>
                </a:solidFill>
                <a:latin typeface="DM Sans"/>
              </a:rPr>
              <a:t>Ils exécutent ce qui leur est fourni. Ils n'arbitrent pas. Ils
                        n'interprètent pas.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7700" y="2828925"/>
            <a:ext cx="685800" cy="209550"/>
          </a:xfrm>
          <a:prstGeom prst="rect">
            <a:avLst/>
          </a:prstGeom>
          <a:solidFill>
            <a:srgbClr val="2B7FFF"/>
          </a:solidFill>
          <a:ln>
            <a:solidFill>
              <a:srgbClr val="2B7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857500"/>
            <a:ext cx="6096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8CCEE"/>
                </a:solidFill>
                <a:latin typeface="DM Sans"/>
              </a:rPr>
              <a:t>Génèrent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1409700" y="2828925"/>
            <a:ext cx="800100" cy="209550"/>
          </a:xfrm>
          <a:prstGeom prst="rect">
            <a:avLst/>
          </a:prstGeom>
          <a:solidFill>
            <a:srgbClr val="2B7FFF"/>
          </a:solidFill>
          <a:ln>
            <a:solidFill>
              <a:srgbClr val="2B7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47800" y="2857500"/>
            <a:ext cx="7239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8CCEE"/>
                </a:solidFill>
                <a:latin typeface="DM Sans"/>
              </a:rPr>
              <a:t>Assemblent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86000" y="2828925"/>
            <a:ext cx="742950" cy="209550"/>
          </a:xfrm>
          <a:prstGeom prst="rect">
            <a:avLst/>
          </a:prstGeom>
          <a:solidFill>
            <a:srgbClr val="2B7FFF"/>
          </a:solidFill>
          <a:ln>
            <a:solidFill>
              <a:srgbClr val="2B7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24100" y="2857500"/>
            <a:ext cx="66675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8CCEE"/>
                </a:solidFill>
                <a:latin typeface="DM Sans"/>
              </a:rPr>
              <a:t>Vérifient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105150" y="2828925"/>
            <a:ext cx="1257300" cy="209550"/>
          </a:xfrm>
          <a:prstGeom prst="rect">
            <a:avLst/>
          </a:prstGeom>
          <a:solidFill>
            <a:srgbClr val="FF5555"/>
          </a:solidFill>
          <a:ln>
            <a:solidFill>
              <a:srgbClr val="FF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143250" y="2857500"/>
            <a:ext cx="11811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8CCEE"/>
                </a:solidFill>
                <a:latin typeface="DM Sans"/>
              </a:rPr>
              <a:t>N'interprètent pas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38650" y="2828925"/>
            <a:ext cx="1085850" cy="209550"/>
          </a:xfrm>
          <a:prstGeom prst="rect">
            <a:avLst/>
          </a:prstGeom>
          <a:solidFill>
            <a:srgbClr val="FF5555"/>
          </a:solidFill>
          <a:ln>
            <a:solidFill>
              <a:srgbClr val="FF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76750" y="2857500"/>
            <a:ext cx="100965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8CCEE"/>
                </a:solidFill>
                <a:latin typeface="DM Sans"/>
              </a:rPr>
              <a:t>N'arbitrent pas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667500" y="0"/>
            <a:ext cx="5524500" cy="6858000"/>
          </a:xfrm>
          <a:prstGeom prst="rect">
            <a:avLst/>
          </a:prstGeom>
          <a:solidFill>
            <a:srgbClr val="06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2300" y="1561338"/>
            <a:ext cx="4914900" cy="373532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7625" cy="6858000"/>
          </a:xfrm>
          <a:prstGeom prst="rect">
            <a:avLst/>
          </a:prstGeom>
          <a:solidFill>
            <a:srgbClr val="14D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7700" y="495300"/>
            <a:ext cx="70485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8CCEE"/>
                </a:solidFill>
                <a:latin typeface="DM Sans"/>
              </a:rPr>
              <a:t>LE PROBLÈME CENTRAL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7700" y="704850"/>
            <a:ext cx="7048500" cy="1047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EEF3FF"/>
                </a:solidFill>
                <a:latin typeface="Atkinson Hyperlegible"/>
              </a:rPr>
              <a:t>Les agents ne lisent</a:t>
            </a:r>
          </a:p>
          <a:p>
            <a:pPr algn="l"/>
            <a:r>
              <a:rPr sz="3200" b="1">
                <a:solidFill>
                  <a:srgbClr val="EEF3FF"/>
                </a:solidFill>
                <a:latin typeface="Atkinson Hyperlegible"/>
              </a:rPr>
              <a:t>pas </a:t>
            </a:r>
            <a:r>
              <a:rPr sz="3200" b="1">
                <a:solidFill>
                  <a:srgbClr val="ED6B41"/>
                </a:solidFill>
                <a:latin typeface="Atkinson Hyperlegible"/>
              </a:rPr>
              <a:t>l'implicite</a:t>
            </a:r>
            <a:r>
              <a:rPr sz="3200" b="1">
                <a:solidFill>
                  <a:srgbClr val="EEF3FF"/>
                </a:solidFill>
                <a:latin typeface="Atkinson Hyperlegible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7700" y="1514475"/>
            <a:ext cx="7048500" cy="53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B8CCEE"/>
                </a:solidFill>
                <a:latin typeface="DM Sans"/>
              </a:rPr>
              <a:t>En présence d'ambiguïtés, un agent applique mal les règles — non pas parce qu'il est
                        défaillant, mais parce qu'il ne peut pas </a:t>
            </a:r>
            <a:r>
              <a:rPr sz="1300" b="1">
                <a:solidFill>
                  <a:srgbClr val="EEF3FF"/>
                </a:solidFill>
                <a:latin typeface="DM Sans"/>
              </a:rPr>
              <a:t>interpréter l'intention humaine</a:t>
            </a:r>
            <a:r>
              <a:rPr sz="1300">
                <a:solidFill>
                  <a:srgbClr val="B8CCEE"/>
                </a:solidFill>
                <a:latin typeface="DM Sans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7700" y="2085975"/>
            <a:ext cx="7048500" cy="53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7A90B8"/>
                </a:solidFill>
                <a:latin typeface="DM Sans"/>
              </a:rPr>
              <a:t>Ce n'est pas une erreur de l'agent. C'est
                        un manque de clarté du système.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7700" y="2657475"/>
            <a:ext cx="38100" cy="647700"/>
          </a:xfrm>
          <a:prstGeom prst="rect">
            <a:avLst/>
          </a:prstGeom>
          <a:solidFill>
            <a:srgbClr val="ED6B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0100" y="2657475"/>
            <a:ext cx="6896100" cy="647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EEF3FF"/>
                </a:solidFill>
                <a:latin typeface="DM Sans"/>
              </a:rPr>
              <a:t>L'autonomie est le résultat d'un système technique ; la fiabilité, elle, est le résultat d'un processus de design . —
                            Smashing Magazine</a:t>
            </a:r>
          </a:p>
        </p:txBody>
      </p:sp>
      <p:sp>
        <p:nvSpPr>
          <p:cNvPr id="9" name="Rectangle 8"/>
          <p:cNvSpPr/>
          <p:nvPr/>
        </p:nvSpPr>
        <p:spPr>
          <a:xfrm>
            <a:off x="8001000" y="0"/>
            <a:ext cx="4191000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58200" y="1333500"/>
            <a:ext cx="327660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7A90B8"/>
                </a:solidFill>
                <a:latin typeface="DM Sans"/>
              </a:rPr>
              <a:t>
                            Sans intention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58200" y="1962150"/>
            <a:ext cx="327660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7A90B8"/>
                </a:solidFill>
                <a:latin typeface="DM Sans"/>
              </a:rPr>
              <a:t>
                            Avec intention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458200" y="2590800"/>
            <a:ext cx="3276600" cy="381000"/>
          </a:xfrm>
          <a:prstGeom prst="rect">
            <a:avLst/>
          </a:prstGeom>
          <a:solidFill>
            <a:srgbClr val="FF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72500" y="2686050"/>
            <a:ext cx="3048000" cy="209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ED6B41"/>
                </a:solidFill>
                <a:latin typeface="Atkinson Hyperlegible"/>
              </a:rPr>
              <a:t>red-6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458200" y="3028950"/>
            <a:ext cx="3276600" cy="381000"/>
          </a:xfrm>
          <a:prstGeom prst="rect">
            <a:avLst/>
          </a:prstGeom>
          <a:solidFill>
            <a:srgbClr val="14D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72500" y="3124200"/>
            <a:ext cx="3048000" cy="209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4D9C8"/>
                </a:solidFill>
                <a:latin typeface="Atkinson Hyperlegible"/>
              </a:rPr>
              <a:t>color-feedback-error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58200" y="3467100"/>
            <a:ext cx="3276600" cy="171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7A90B8"/>
                </a:solidFill>
                <a:latin typeface="DM Sans"/>
              </a:rPr>
              <a:t>Sans intention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58200" y="3676650"/>
            <a:ext cx="3276600" cy="171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14D9C8"/>
                </a:solidFill>
                <a:latin typeface="DM Sans"/>
              </a:rPr>
              <a:t>Avec intention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7625" cy="6858000"/>
          </a:xfrm>
          <a:prstGeom prst="rect">
            <a:avLst/>
          </a:prstGeom>
          <a:solidFill>
            <a:srgbClr val="14D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7700" y="495300"/>
            <a:ext cx="5715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8CCEE"/>
                </a:solidFill>
                <a:latin typeface="DM Sans"/>
              </a:rPr>
              <a:t>DÉFINITION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7700" y="704850"/>
            <a:ext cx="5715000" cy="1047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EF3FF"/>
                </a:solidFill>
                <a:latin typeface="Atkinson Hyperlegible"/>
              </a:rPr>
              <a:t>Qu'est-ce qu'un système de design agentique ?</a:t>
            </a:r>
          </a:p>
        </p:txBody>
      </p:sp>
      <p:sp>
        <p:nvSpPr>
          <p:cNvPr id="5" name="Rectangle 4"/>
          <p:cNvSpPr/>
          <p:nvPr/>
        </p:nvSpPr>
        <p:spPr>
          <a:xfrm>
            <a:off x="647700" y="1514475"/>
            <a:ext cx="5715000" cy="685800"/>
          </a:xfrm>
          <a:prstGeom prst="rect">
            <a:avLst/>
          </a:prstGeom>
          <a:solidFill>
            <a:srgbClr val="14D9C8"/>
          </a:solidFill>
          <a:ln>
            <a:solidFill>
              <a:srgbClr val="14D9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100" y="1609725"/>
            <a:ext cx="5410200" cy="514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EEF3FF"/>
                </a:solidFill>
                <a:latin typeface="DM Sans"/>
              </a:rPr>
              <a:t>
                        Un système de design conçu pour être compris et utilisé à la fois par des </a:t>
            </a:r>
            <a:r>
              <a:rPr sz="1200">
                <a:solidFill>
                  <a:srgbClr val="ED6B41"/>
                </a:solidFill>
                <a:latin typeface="DM Sans"/>
              </a:rPr>
              <a:t>humains</a:t>
            </a:r>
            <a:r>
              <a:rPr sz="1200">
                <a:solidFill>
                  <a:srgbClr val="EEF3FF"/>
                </a:solidFill>
                <a:latin typeface="DM Sans"/>
              </a:rPr>
              <a:t> et
                        par des </a:t>
            </a:r>
            <a:r>
              <a:rPr sz="1200">
                <a:solidFill>
                  <a:srgbClr val="ED6B41"/>
                </a:solidFill>
                <a:latin typeface="DM Sans"/>
              </a:rPr>
              <a:t>agents d'IA</a:t>
            </a:r>
            <a:r>
              <a:rPr sz="1200">
                <a:solidFill>
                  <a:srgbClr val="EEF3FF"/>
                </a:solidFill>
                <a:latin typeface="DM Sans"/>
              </a:rPr>
              <a:t>, afin que ces agents puissent appliquer correctement les règles et
                        contraintes définies par les équipes.
                   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7700" y="2276475"/>
            <a:ext cx="5715000" cy="1047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EF3FF"/>
                </a:solidFill>
                <a:latin typeface="Atkinson Hyperlegible"/>
              </a:rPr>
              <a:t>
                        Ce n'est pas un nouveau type de design.</a:t>
            </a:r>
          </a:p>
          <a:p>
            <a:pPr algn="l"/>
            <a:r>
              <a:rPr sz="1600" b="1">
                <a:solidFill>
                  <a:srgbClr val="EEF3FF"/>
                </a:solidFill>
                <a:latin typeface="Atkinson Hyperlegible"/>
              </a:rPr>
              <a:t>
</a:t>
            </a:r>
            <a:r>
              <a:rPr sz="1600" b="1">
                <a:solidFill>
                  <a:srgbClr val="14D9C8"/>
                </a:solidFill>
                <a:latin typeface="Atkinson Hyperlegible"/>
              </a:rPr>
              <a:t>C'est une évolution dans la façonde formuler les décisions.</a:t>
            </a:r>
            <a:r>
              <a:rPr sz="1600" b="1">
                <a:solidFill>
                  <a:srgbClr val="EEF3FF"/>
                </a:solidFill>
                <a:latin typeface="Atkinson Hyperlegible"/>
              </a:rPr>
              <a:t>
</a:t>
            </a:r>
          </a:p>
        </p:txBody>
      </p:sp>
      <p:sp>
        <p:nvSpPr>
          <p:cNvPr id="8" name="Rectangle 7"/>
          <p:cNvSpPr/>
          <p:nvPr/>
        </p:nvSpPr>
        <p:spPr>
          <a:xfrm>
            <a:off x="6667500" y="0"/>
            <a:ext cx="5524500" cy="6858000"/>
          </a:xfrm>
          <a:prstGeom prst="rect">
            <a:avLst/>
          </a:prstGeom>
          <a:solidFill>
            <a:srgbClr val="06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2300" y="1561338"/>
            <a:ext cx="4914900" cy="373532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7625" cy="6858000"/>
          </a:xfrm>
          <a:prstGeom prst="rect">
            <a:avLst/>
          </a:prstGeom>
          <a:solidFill>
            <a:srgbClr val="14D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7700" y="495300"/>
            <a:ext cx="7239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8CCEE"/>
                </a:solidFill>
                <a:latin typeface="DM Sans"/>
              </a:rPr>
              <a:t>CE QUI CHANGE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7700" y="704850"/>
            <a:ext cx="7239000" cy="1047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EF3FF"/>
                </a:solidFill>
                <a:latin typeface="Atkinson Hyperlegible"/>
              </a:rPr>
              <a:t>Trois changements concrets.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7700" y="1514475"/>
            <a:ext cx="7239000" cy="53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B8CCEE"/>
                </a:solidFill>
                <a:latin typeface="DM Sans"/>
              </a:rPr>
              <a:t>Écrites clairement, structurées, désambiguïsées. Chaque règle
                                    doit pouvoir être appliquée </a:t>
            </a:r>
            <a:r>
              <a:rPr sz="1200" b="1">
                <a:solidFill>
                  <a:srgbClr val="EEF3FF"/>
                </a:solidFill>
                <a:latin typeface="DM Sans"/>
              </a:rPr>
              <a:t>sans interprétation</a:t>
            </a:r>
            <a:r>
              <a:rPr sz="1200">
                <a:solidFill>
                  <a:srgbClr val="B8CCEE"/>
                </a:solidFill>
                <a:latin typeface="DM Sans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7700" y="2085975"/>
            <a:ext cx="7239000" cy="53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B8CCEE"/>
                </a:solidFill>
                <a:latin typeface="DM Sans"/>
              </a:rPr>
              <a:t>Elle ne fait plus que expliquer — elle donne des instructions
                                    directement applicables par des agents.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7700" y="2657475"/>
            <a:ext cx="7239000" cy="53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B8CCEE"/>
                </a:solidFill>
                <a:latin typeface="DM Sans"/>
              </a:rPr>
              <a:t>Le cadre d'exécution est défini </a:t>
            </a:r>
            <a:r>
              <a:rPr sz="1200" b="1">
                <a:solidFill>
                  <a:srgbClr val="EEF3FF"/>
                </a:solidFill>
                <a:latin typeface="DM Sans"/>
              </a:rPr>
              <a:t>avant</a:t>
            </a:r>
            <a:r>
              <a:rPr sz="1200">
                <a:solidFill>
                  <a:srgbClr val="B8CCEE"/>
                </a:solidFill>
                <a:latin typeface="DM Sans"/>
              </a:rPr>
              <a:t> la
                                    production — pas seulement comme outil de correction après.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7700" y="3228975"/>
            <a:ext cx="7239000" cy="7239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2950" y="3305175"/>
            <a:ext cx="419100" cy="552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4D9C8"/>
                </a:solidFill>
                <a:latin typeface="Atkinson Hyperlegible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19200" y="3324225"/>
            <a:ext cx="6553200" cy="266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4D9C8"/>
                </a:solidFill>
                <a:latin typeface="Atkinson Hyperlegible"/>
              </a:rPr>
              <a:t>Les règles deviennent explicites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19200" y="3629025"/>
            <a:ext cx="6553200" cy="247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B8CCEE"/>
                </a:solidFill>
                <a:latin typeface="DM Sans"/>
              </a:rPr>
              <a:t>Écrites clairement, structurées, désambiguïsées. Chaque règle
                                    doit pouvoir être appliquée </a:t>
            </a:r>
            <a:r>
              <a:rPr sz="1000" b="1">
                <a:solidFill>
                  <a:srgbClr val="EEF3FF"/>
                </a:solidFill>
                <a:latin typeface="DM Sans"/>
              </a:rPr>
              <a:t>sans interprétation</a:t>
            </a:r>
            <a:r>
              <a:rPr sz="1000">
                <a:solidFill>
                  <a:srgbClr val="B8CCEE"/>
                </a:solidFill>
                <a:latin typeface="DM Sans"/>
              </a:rPr>
              <a:t>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7700" y="4029075"/>
            <a:ext cx="7239000" cy="7239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2950" y="4105275"/>
            <a:ext cx="419100" cy="552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4D9C8"/>
                </a:solidFill>
                <a:latin typeface="Atkinson Hyperlegible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19200" y="4124325"/>
            <a:ext cx="6553200" cy="266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4D9C8"/>
                </a:solidFill>
                <a:latin typeface="Atkinson Hyperlegible"/>
              </a:rPr>
              <a:t>La documentation instruit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9200" y="4429125"/>
            <a:ext cx="6553200" cy="247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B8CCEE"/>
                </a:solidFill>
                <a:latin typeface="DM Sans"/>
              </a:rPr>
              <a:t>Elle ne fait plus que expliquer — elle donne des instructions
                                    directement applicables par des agents.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7700" y="4829175"/>
            <a:ext cx="7239000" cy="7239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2950" y="4905375"/>
            <a:ext cx="419100" cy="552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4D9C8"/>
                </a:solidFill>
                <a:latin typeface="Atkinson Hyperlegible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19200" y="4924425"/>
            <a:ext cx="6553200" cy="266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4D9C8"/>
                </a:solidFill>
                <a:latin typeface="Atkinson Hyperlegible"/>
              </a:rPr>
              <a:t>Le système encadre en amont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9200" y="5229225"/>
            <a:ext cx="6553200" cy="247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B8CCEE"/>
                </a:solidFill>
                <a:latin typeface="DM Sans"/>
              </a:rPr>
              <a:t>Le cadre d'exécution est défini </a:t>
            </a:r>
            <a:r>
              <a:rPr sz="1000" b="1">
                <a:solidFill>
                  <a:srgbClr val="EEF3FF"/>
                </a:solidFill>
                <a:latin typeface="DM Sans"/>
              </a:rPr>
              <a:t>avant</a:t>
            </a:r>
            <a:r>
              <a:rPr sz="1000">
                <a:solidFill>
                  <a:srgbClr val="B8CCEE"/>
                </a:solidFill>
                <a:latin typeface="DM Sans"/>
              </a:rPr>
              <a:t> la
                                    production — pas seulement comme outil de correction après.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91500" y="0"/>
            <a:ext cx="4000500" cy="6858000"/>
          </a:xfrm>
          <a:prstGeom prst="rect">
            <a:avLst/>
          </a:prstGeom>
          <a:solidFill>
            <a:srgbClr val="2B7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48700" y="1333500"/>
            <a:ext cx="3086100" cy="1238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EEF3FF"/>
                </a:solidFill>
                <a:latin typeface="Atkinson Hyperlegible"/>
              </a:rPr>
              <a:t>
                            Le rôle du designer évolue : de producteur d'artefacts à </a:t>
            </a:r>
            <a:r>
              <a:rPr sz="1900" b="1">
                <a:solidFill>
                  <a:srgbClr val="14D9C8"/>
                </a:solidFill>
                <a:latin typeface="Atkinson Hyperlegible"/>
              </a:rPr>
              <a:t>directeur d'intention</a:t>
            </a:r>
            <a:r>
              <a:rPr sz="1900" b="1">
                <a:solidFill>
                  <a:srgbClr val="EEF3FF"/>
                </a:solidFill>
                <a:latin typeface="Atkinson Hyperlegible"/>
              </a:rPr>
              <a:t>.
                           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48700" y="2667000"/>
            <a:ext cx="30861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7A90B8"/>
                </a:solidFill>
                <a:latin typeface="DM Sans"/>
              </a:rPr>
              <a:t>— Smashing Magazine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648700" y="2895600"/>
            <a:ext cx="308610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48700" y="3048000"/>
            <a:ext cx="308610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7A90B8"/>
                </a:solidFill>
                <a:latin typeface="DM Sans"/>
              </a:rPr>
              <a:t>Moins d'interprétation. Moins de dérive. Plus de
                            cohérence à grande vitesse.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7625" cy="6858000"/>
          </a:xfrm>
          <a:prstGeom prst="rect">
            <a:avLst/>
          </a:prstGeom>
          <a:solidFill>
            <a:srgbClr val="14D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7700" y="495300"/>
            <a:ext cx="5715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8CCEE"/>
                </a:solidFill>
                <a:latin typeface="DM Sans"/>
              </a:rPr>
              <a:t>DOCUMENTATION AGENTIQUE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7700" y="704850"/>
            <a:ext cx="5715000" cy="1047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EF3FF"/>
                </a:solidFill>
                <a:latin typeface="Atkinson Hyperlegible"/>
              </a:rPr>
              <a:t>D'artefact statique</a:t>
            </a:r>
          </a:p>
          <a:p>
            <a:pPr algn="l"/>
            <a:r>
              <a:rPr sz="2800" b="1">
                <a:solidFill>
                  <a:srgbClr val="EEF3FF"/>
                </a:solidFill>
                <a:latin typeface="Atkinson Hyperlegible"/>
              </a:rPr>
              <a:t>à </a:t>
            </a:r>
            <a:r>
              <a:rPr sz="2800" b="1">
                <a:solidFill>
                  <a:srgbClr val="14D9C8"/>
                </a:solidFill>
                <a:latin typeface="Atkinson Hyperlegible"/>
              </a:rPr>
              <a:t>système vivant</a:t>
            </a:r>
            <a:r>
              <a:rPr sz="2800" b="1">
                <a:solidFill>
                  <a:srgbClr val="EEF3FF"/>
                </a:solidFill>
                <a:latin typeface="Atkinson Hyperlegible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7700" y="1514475"/>
            <a:ext cx="5715000" cy="53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B8CCEE"/>
                </a:solidFill>
                <a:latin typeface="DM Sans"/>
              </a:rPr>
              <a:t>Dans un système classique, la documentation vieillit dès sa
                        publication. Dans un système agentique, elle se synchronise </a:t>
            </a:r>
            <a:r>
              <a:rPr sz="1200" b="1">
                <a:solidFill>
                  <a:srgbClr val="EEF3FF"/>
                </a:solidFill>
                <a:latin typeface="DM Sans"/>
              </a:rPr>
              <a:t>avec</a:t>
            </a:r>
            <a:r>
              <a:rPr sz="1200">
                <a:solidFill>
                  <a:srgbClr val="B8CCEE"/>
                </a:solidFill>
                <a:latin typeface="DM Sans"/>
              </a:rPr>
              <a:t> le système.
                    </a:t>
            </a:r>
          </a:p>
        </p:txBody>
      </p:sp>
      <p:sp>
        <p:nvSpPr>
          <p:cNvPr id="6" name="Rectangle 5"/>
          <p:cNvSpPr/>
          <p:nvPr/>
        </p:nvSpPr>
        <p:spPr>
          <a:xfrm>
            <a:off x="647700" y="2085975"/>
            <a:ext cx="38100" cy="647700"/>
          </a:xfrm>
          <a:prstGeom prst="rect">
            <a:avLst/>
          </a:prstGeom>
          <a:solidFill>
            <a:srgbClr val="ED6B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0100" y="2085975"/>
            <a:ext cx="5562600" cy="647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EEF3FF"/>
                </a:solidFill>
                <a:latin typeface="DM Sans"/>
              </a:rPr>
              <a:t>La question n'est pas « que peut faire l'agent ? » mais « que lui permet-on de
                            faire , et à quel niveau de confiance ? » —
                            I</a:t>
            </a:r>
          </a:p>
        </p:txBody>
      </p:sp>
      <p:sp>
        <p:nvSpPr>
          <p:cNvPr id="8" name="Rectangle 7"/>
          <p:cNvSpPr/>
          <p:nvPr/>
        </p:nvSpPr>
        <p:spPr>
          <a:xfrm>
            <a:off x="647700" y="2828925"/>
            <a:ext cx="5715000" cy="7239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7700" y="3629025"/>
            <a:ext cx="5715000" cy="7239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7700" y="4429125"/>
            <a:ext cx="5715000" cy="571500"/>
          </a:xfrm>
          <a:prstGeom prst="rect">
            <a:avLst/>
          </a:prstGeom>
          <a:solidFill>
            <a:srgbClr val="14D9C8"/>
          </a:solidFill>
          <a:ln>
            <a:solidFill>
              <a:srgbClr val="14D9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1050" y="4505325"/>
            <a:ext cx="5448300" cy="209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4D9C8"/>
                </a:solidFill>
                <a:latin typeface="Atkinson Hyperlegible"/>
              </a:rPr>
              <a:t>Infrastructure, pas
                                document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1050" y="4714875"/>
            <a:ext cx="54483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8CCEE"/>
                </a:solidFill>
                <a:latin typeface="DM Sans"/>
              </a:rPr>
              <a:t>Infrastructure, pas
                                document Lisible par humains et agents. Structurée, synchronisée, partiellement automatisée.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667500" y="0"/>
            <a:ext cx="5524500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2300" y="1561338"/>
            <a:ext cx="4914900" cy="373532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7625" cy="6858000"/>
          </a:xfrm>
          <a:prstGeom prst="rect">
            <a:avLst/>
          </a:prstGeom>
          <a:solidFill>
            <a:srgbClr val="14D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7700" y="495300"/>
            <a:ext cx="6858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8CCEE"/>
                </a:solidFill>
                <a:latin typeface="DM Sans"/>
              </a:rPr>
              <a:t>CLARIFICATIONS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7700" y="704850"/>
            <a:ext cx="6858000" cy="1047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EF3FF"/>
                </a:solidFill>
                <a:latin typeface="Atkinson Hyperlegible"/>
              </a:rPr>
              <a:t>Ce que ça n'est pas.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7700" y="1514475"/>
            <a:ext cx="6858000" cy="323850"/>
          </a:xfrm>
          <a:prstGeom prst="rect">
            <a:avLst/>
          </a:prstGeom>
          <a:solidFill>
            <a:srgbClr val="FF5555"/>
          </a:solidFill>
          <a:ln>
            <a:solidFill>
              <a:srgbClr val="FF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2000" y="1590675"/>
            <a:ext cx="66294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B0B0"/>
                </a:solidFill>
                <a:latin typeface="DM Sans"/>
              </a:rPr>
              <a:t>✗  Un systèmeautonomequi se gère
                                seul</a:t>
            </a:r>
          </a:p>
        </p:txBody>
      </p:sp>
      <p:sp>
        <p:nvSpPr>
          <p:cNvPr id="7" name="Rectangle 6"/>
          <p:cNvSpPr/>
          <p:nvPr/>
        </p:nvSpPr>
        <p:spPr>
          <a:xfrm>
            <a:off x="647700" y="1876425"/>
            <a:ext cx="6858000" cy="323850"/>
          </a:xfrm>
          <a:prstGeom prst="rect">
            <a:avLst/>
          </a:prstGeom>
          <a:solidFill>
            <a:srgbClr val="FF5555"/>
          </a:solidFill>
          <a:ln>
            <a:solidFill>
              <a:srgbClr val="FF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2000" y="1952625"/>
            <a:ext cx="66294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B0B0"/>
                </a:solidFill>
                <a:latin typeface="DM Sans"/>
              </a:rPr>
              <a:t>✗  Un système quiremplace les
                                    designers</a:t>
            </a:r>
          </a:p>
        </p:txBody>
      </p:sp>
      <p:sp>
        <p:nvSpPr>
          <p:cNvPr id="9" name="Rectangle 8"/>
          <p:cNvSpPr/>
          <p:nvPr/>
        </p:nvSpPr>
        <p:spPr>
          <a:xfrm>
            <a:off x="647700" y="2238375"/>
            <a:ext cx="6858000" cy="323850"/>
          </a:xfrm>
          <a:prstGeom prst="rect">
            <a:avLst/>
          </a:prstGeom>
          <a:solidFill>
            <a:srgbClr val="FF5555"/>
          </a:solidFill>
          <a:ln>
            <a:solidFill>
              <a:srgbClr val="FF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2314575"/>
            <a:ext cx="66294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B0B0"/>
                </a:solidFill>
                <a:latin typeface="DM Sans"/>
              </a:rPr>
              <a:t>✗  Un systèmedécisionnel— les
                                agents n'arbitrent pas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7700" y="2600325"/>
            <a:ext cx="6858000" cy="323850"/>
          </a:xfrm>
          <a:prstGeom prst="rect">
            <a:avLst/>
          </a:prstGeom>
          <a:solidFill>
            <a:srgbClr val="FF5555"/>
          </a:solidFill>
          <a:ln>
            <a:solidFill>
              <a:srgbClr val="FF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2000" y="2676525"/>
            <a:ext cx="66294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B0B0"/>
                </a:solidFill>
                <a:latin typeface="DM Sans"/>
              </a:rPr>
              <a:t>✗  Un projetpurement
                                    technologique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7700" y="2962275"/>
            <a:ext cx="6858000" cy="323850"/>
          </a:xfrm>
          <a:prstGeom prst="rect">
            <a:avLst/>
          </a:prstGeom>
          <a:solidFill>
            <a:srgbClr val="14D9C8"/>
          </a:solidFill>
          <a:ln>
            <a:solidFill>
              <a:srgbClr val="14D9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2000" y="3038475"/>
            <a:ext cx="66294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4D9C8"/>
                </a:solidFill>
                <a:latin typeface="DM Sans"/>
              </a:rPr>
              <a:t>✓  Un système qui rend lesdécisions
                                    humaines applicables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810500" y="0"/>
            <a:ext cx="4381500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67700" y="1333500"/>
            <a:ext cx="346710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7A90B8"/>
                </a:solidFill>
                <a:latin typeface="DM Sans"/>
              </a:rPr>
              <a:t>Investir dans la formalisation des décisions —
                                pas seulement dans les artefacts visuels.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7700" y="1962150"/>
            <a:ext cx="346710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7A90B8"/>
                </a:solidFill>
                <a:latin typeface="DM Sans"/>
              </a:rPr>
              <a:t>Formuler les règles éditoriales avec la même
                                rigueur que les règles visuelles.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67700" y="2590800"/>
            <a:ext cx="346710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7A90B8"/>
                </a:solidFill>
                <a:latin typeface="DM Sans"/>
              </a:rPr>
              <a:t>Le système de design est une </a:t>
            </a:r>
            <a:r>
              <a:rPr sz="1100" b="1">
                <a:solidFill>
                  <a:srgbClr val="EEF3FF"/>
                </a:solidFill>
                <a:latin typeface="DM Sans"/>
              </a:rPr>
              <a:t>infrastructure stratégique</a:t>
            </a:r>
            <a:r>
              <a:rPr sz="1100">
                <a:solidFill>
                  <a:srgbClr val="7A90B8"/>
                </a:solidFill>
                <a:latin typeface="DM Sans"/>
              </a:rPr>
              <a:t> — pas un livrable
                                ponctuel.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67700" y="3219450"/>
            <a:ext cx="3467100" cy="666750"/>
          </a:xfrm>
          <a:prstGeom prst="rect">
            <a:avLst/>
          </a:prstGeom>
          <a:solidFill>
            <a:srgbClr val="3421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01050" y="3295650"/>
            <a:ext cx="3200400" cy="247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EF3FF"/>
                </a:solidFill>
                <a:latin typeface="Atkinson Hyperlegible"/>
              </a:rPr>
              <a:t>🎨 Équipes design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01050" y="3562350"/>
            <a:ext cx="3200400" cy="266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90B8"/>
                </a:solidFill>
                <a:latin typeface="DM Sans"/>
              </a:rPr>
              <a:t>Investir dans la formalisation des décisions —
                                pas seulement dans les artefacts visuels.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67700" y="3962400"/>
            <a:ext cx="3467100" cy="666750"/>
          </a:xfrm>
          <a:prstGeom prst="rect">
            <a:avLst/>
          </a:prstGeom>
          <a:solidFill>
            <a:srgbClr val="3421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01050" y="4038600"/>
            <a:ext cx="3200400" cy="247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EF3FF"/>
                </a:solidFill>
                <a:latin typeface="Atkinson Hyperlegible"/>
              </a:rPr>
              <a:t>💬 CX et communications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01050" y="4305300"/>
            <a:ext cx="3200400" cy="266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90B8"/>
                </a:solidFill>
                <a:latin typeface="DM Sans"/>
              </a:rPr>
              <a:t>Formuler les règles éditoriales avec la même
                                rigueur que les règles visuelles.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67700" y="4705350"/>
            <a:ext cx="3467100" cy="666750"/>
          </a:xfrm>
          <a:prstGeom prst="rect">
            <a:avLst/>
          </a:prstGeom>
          <a:solidFill>
            <a:srgbClr val="3421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01050" y="4781550"/>
            <a:ext cx="3200400" cy="247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EF3FF"/>
                </a:solidFill>
                <a:latin typeface="Atkinson Hyperlegible"/>
              </a:rPr>
              <a:t>📊 Gestionnaires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01050" y="5048250"/>
            <a:ext cx="3200400" cy="266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90B8"/>
                </a:solidFill>
                <a:latin typeface="DM Sans"/>
              </a:rPr>
              <a:t>Le système de design est uneinfrastructure stratégique— pas un livrable
                                ponctuel.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7625" cy="6858000"/>
          </a:xfrm>
          <a:prstGeom prst="rect">
            <a:avLst/>
          </a:prstGeom>
          <a:solidFill>
            <a:srgbClr val="14D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7700" y="495300"/>
            <a:ext cx="6858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8CCEE"/>
                </a:solidFill>
                <a:latin typeface="DM Sans"/>
              </a:rPr>
              <a:t>SYNTHÈSE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7700" y="704850"/>
            <a:ext cx="6858000" cy="1047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EEF3FF"/>
                </a:solidFill>
                <a:latin typeface="Atkinson Hyperlegible"/>
              </a:rPr>
              <a:t>Un système de design</a:t>
            </a:r>
          </a:p>
          <a:p>
            <a:pPr algn="l"/>
            <a:r>
              <a:rPr sz="3200" b="1">
                <a:solidFill>
                  <a:srgbClr val="EEF3FF"/>
                </a:solidFill>
                <a:latin typeface="Atkinson Hyperlegible"/>
              </a:rPr>
              <a:t>agentique.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7700" y="1514475"/>
            <a:ext cx="6858000" cy="53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B8CCEE"/>
                </a:solidFill>
                <a:latin typeface="DM Sans"/>
              </a:rPr>
              <a:t>C'est l'évolution naturelle d'un système de design classique dans un contexte où des
                        agents d'IA participent à la production.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7700" y="2085975"/>
            <a:ext cx="6858000" cy="53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B8CCEE"/>
                </a:solidFill>
                <a:latin typeface="DM Sans"/>
              </a:rPr>
              <a:t>Il ne change pas la nature profonde du travail de design. Il en </a:t>
            </a:r>
            <a:r>
              <a:rPr sz="1300" b="1">
                <a:solidFill>
                  <a:srgbClr val="EEF3FF"/>
                </a:solidFill>
                <a:latin typeface="DM Sans"/>
              </a:rPr>
              <a:t>rehausse l'exigence</a:t>
            </a:r>
            <a:r>
              <a:rPr sz="1300">
                <a:solidFill>
                  <a:srgbClr val="B8CCEE"/>
                </a:solidFill>
                <a:latin typeface="DM Sans"/>
              </a:rPr>
              <a:t> : les décisions doivent être
                        suffisamment claires pour être comprises par des systèmes qui exécutent sans interpréter.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7700" y="2657475"/>
            <a:ext cx="628650" cy="209550"/>
          </a:xfrm>
          <a:prstGeom prst="rect">
            <a:avLst/>
          </a:prstGeom>
          <a:solidFill>
            <a:srgbClr val="2B7FFF"/>
          </a:solidFill>
          <a:ln>
            <a:solidFill>
              <a:srgbClr val="2B7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686050"/>
            <a:ext cx="55245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8CCEE"/>
                </a:solidFill>
                <a:latin typeface="DM Sans"/>
              </a:rPr>
              <a:t>NNGroup</a:t>
            </a:r>
          </a:p>
        </p:txBody>
      </p:sp>
      <p:sp>
        <p:nvSpPr>
          <p:cNvPr id="9" name="Rectangle 8"/>
          <p:cNvSpPr/>
          <p:nvPr/>
        </p:nvSpPr>
        <p:spPr>
          <a:xfrm>
            <a:off x="1352550" y="2657475"/>
            <a:ext cx="1200150" cy="209550"/>
          </a:xfrm>
          <a:prstGeom prst="rect">
            <a:avLst/>
          </a:prstGeom>
          <a:solidFill>
            <a:srgbClr val="2B7FFF"/>
          </a:solidFill>
          <a:ln>
            <a:solidFill>
              <a:srgbClr val="2B7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2686050"/>
            <a:ext cx="112395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8CCEE"/>
                </a:solidFill>
                <a:latin typeface="DM Sans"/>
              </a:rPr>
              <a:t>Smashing Magazine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28900" y="2657475"/>
            <a:ext cx="1314450" cy="209550"/>
          </a:xfrm>
          <a:prstGeom prst="rect">
            <a:avLst/>
          </a:prstGeom>
          <a:solidFill>
            <a:srgbClr val="2B7FFF"/>
          </a:solidFill>
          <a:ln>
            <a:solidFill>
              <a:srgbClr val="2B7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67000" y="2686050"/>
            <a:ext cx="123825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8CCEE"/>
                </a:solidFill>
                <a:latin typeface="DM Sans"/>
              </a:rPr>
              <a:t>Into Design Systems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019550" y="2657475"/>
            <a:ext cx="1543050" cy="209550"/>
          </a:xfrm>
          <a:prstGeom prst="rect">
            <a:avLst/>
          </a:prstGeom>
          <a:solidFill>
            <a:srgbClr val="2B7FFF"/>
          </a:solidFill>
          <a:ln>
            <a:solidFill>
              <a:srgbClr val="2B7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057650" y="2686050"/>
            <a:ext cx="146685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8CCEE"/>
                </a:solidFill>
                <a:latin typeface="DM Sans"/>
              </a:rPr>
              <a:t>The Design System Guide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38800" y="2657475"/>
            <a:ext cx="971550" cy="209550"/>
          </a:xfrm>
          <a:prstGeom prst="rect">
            <a:avLst/>
          </a:prstGeom>
          <a:solidFill>
            <a:srgbClr val="2B7FFF"/>
          </a:solidFill>
          <a:ln>
            <a:solidFill>
              <a:srgbClr val="2B7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76900" y="2686050"/>
            <a:ext cx="89535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8CCEE"/>
                </a:solidFill>
                <a:latin typeface="DM Sans"/>
              </a:rPr>
              <a:t>Romina Kavcic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810500" y="0"/>
            <a:ext cx="4381500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0500" y="0"/>
            <a:ext cx="4381500" cy="6858000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7810500" y="0"/>
            <a:ext cx="4381500" cy="6858000"/>
          </a:xfrm>
          <a:prstGeom prst="rect">
            <a:avLst/>
          </a:prstGeom>
          <a:solidFill>
            <a:srgbClr val="060D1A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67700" y="2238375"/>
            <a:ext cx="3467100" cy="1047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EF3FF"/>
                </a:solidFill>
                <a:latin typeface="Atkinson Hyperlegible"/>
              </a:rPr>
              <a:t>
                            Le cœur du système</a:t>
            </a:r>
          </a:p>
          <a:p>
            <a:pPr algn="l"/>
            <a:r>
              <a:rPr sz="2400" b="1">
                <a:solidFill>
                  <a:srgbClr val="EEF3FF"/>
                </a:solidFill>
                <a:latin typeface="Atkinson Hyperlegible"/>
              </a:rPr>
              <a:t>reste </a:t>
            </a:r>
            <a:r>
              <a:rPr sz="2400" b="1">
                <a:solidFill>
                  <a:srgbClr val="14D9C8"/>
                </a:solidFill>
                <a:latin typeface="Atkinson Hyperlegible"/>
              </a:rPr>
              <a:t>humain</a:t>
            </a:r>
            <a:r>
              <a:rPr sz="2400" b="1">
                <a:solidFill>
                  <a:srgbClr val="EEF3FF"/>
                </a:solidFill>
                <a:latin typeface="Atkinson Hyperlegible"/>
              </a:rPr>
              <a:t>.
                       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67700" y="3143250"/>
            <a:ext cx="3467100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B8CCEE"/>
                </a:solidFill>
                <a:latin typeface="DM Sans"/>
              </a:rPr>
              <a:t>L'intention, la gouvernance, les choix — tout cela appartient aux équipes. Ce que le système agentique ajoute, c'est la rigueur de formuler ces choix de façon à ce qu'ils traversent l'organisation </a:t>
            </a:r>
            <a:r>
              <a:rPr sz="1100" b="1">
                <a:solidFill>
                  <a:srgbClr val="EEF3FF"/>
                </a:solidFill>
                <a:latin typeface="DM Sans"/>
              </a:rPr>
              <a:t>sans se perdre en chemin</a:t>
            </a:r>
            <a:r>
              <a:rPr sz="1100">
                <a:solidFill>
                  <a:srgbClr val="B8CCEE"/>
                </a:solidFill>
                <a:latin typeface="DM Sans"/>
              </a:rPr>
              <a:t>.
                       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