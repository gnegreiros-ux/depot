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466"/>
    <a:srgbClr val="3F47EB"/>
    <a:srgbClr val="758BB1"/>
    <a:srgbClr val="D7DDE9"/>
    <a:srgbClr val="BFC9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1998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7625" cy="6858000"/>
          </a:xfrm>
          <a:prstGeom prst="rect">
            <a:avLst/>
          </a:prstGeom>
          <a:solidFill>
            <a:srgbClr val="14D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7700" y="1758950"/>
            <a:ext cx="62865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spc="300" dirty="0">
                <a:solidFill>
                  <a:srgbClr val="B8CCEE"/>
                </a:solidFill>
                <a:latin typeface="DM Sans"/>
              </a:rPr>
              <a:t>DOCUMENT DE NIVELLEMENT INTERNE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7700" y="6123390"/>
            <a:ext cx="62865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>
                <a:solidFill>
                  <a:srgbClr val="7A90B8"/>
                </a:solidFill>
                <a:latin typeface="DM Sans"/>
              </a:rPr>
              <a:t>Guilherme Negreiros — 30 </a:t>
            </a:r>
            <a:r>
              <a:rPr sz="1200" dirty="0" err="1">
                <a:solidFill>
                  <a:srgbClr val="7A90B8"/>
                </a:solidFill>
                <a:latin typeface="DM Sans"/>
              </a:rPr>
              <a:t>avril</a:t>
            </a:r>
            <a:r>
              <a:rPr sz="1200" dirty="0">
                <a:solidFill>
                  <a:srgbClr val="7A90B8"/>
                </a:solidFill>
                <a:latin typeface="DM Sans"/>
              </a:rPr>
              <a:t> 202</a:t>
            </a:r>
            <a:r>
              <a:rPr lang="fr-CA" sz="1200" dirty="0">
                <a:solidFill>
                  <a:srgbClr val="7A90B8"/>
                </a:solidFill>
                <a:latin typeface="DM Sans"/>
              </a:rPr>
              <a:t>6</a:t>
            </a:r>
            <a:endParaRPr sz="1200" dirty="0">
              <a:solidFill>
                <a:srgbClr val="7A90B8"/>
              </a:solidFill>
              <a:latin typeface="DM San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239000" y="0"/>
            <a:ext cx="495300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9000" y="0"/>
            <a:ext cx="4953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7700" y="1968500"/>
            <a:ext cx="6448425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dirty="0" err="1">
                <a:solidFill>
                  <a:srgbClr val="EEF3FF"/>
                </a:solidFill>
                <a:latin typeface="Atkinson Hyperlegible"/>
              </a:rPr>
              <a:t>Qu'est-ce</a:t>
            </a:r>
            <a:r>
              <a:rPr sz="4400" b="1" dirty="0">
                <a:solidFill>
                  <a:srgbClr val="EEF3FF"/>
                </a:solidFill>
                <a:latin typeface="Atkinson Hyperlegible"/>
              </a:rPr>
              <a:t> </a:t>
            </a:r>
            <a:r>
              <a:rPr sz="4400" b="1" dirty="0" err="1">
                <a:solidFill>
                  <a:srgbClr val="EEF3FF"/>
                </a:solidFill>
                <a:latin typeface="Atkinson Hyperlegible"/>
              </a:rPr>
              <a:t>qu’un</a:t>
            </a:r>
            <a:r>
              <a:rPr lang="fr-CA" sz="4400" b="1" dirty="0">
                <a:solidFill>
                  <a:srgbClr val="EEF3FF"/>
                </a:solidFill>
                <a:latin typeface="Atkinson Hyperlegible"/>
              </a:rPr>
              <a:t> </a:t>
            </a:r>
            <a:br>
              <a:rPr lang="fr-CA" sz="4400" b="1" dirty="0">
                <a:solidFill>
                  <a:srgbClr val="EEF3FF"/>
                </a:solidFill>
                <a:latin typeface="Atkinson Hyperlegible"/>
              </a:rPr>
            </a:br>
            <a:r>
              <a:rPr lang="fr-CA" sz="4400" b="1" dirty="0">
                <a:solidFill>
                  <a:srgbClr val="EEF3FF"/>
                </a:solidFill>
                <a:latin typeface="Atkinson Hyperlegible"/>
              </a:rPr>
              <a:t>système de design</a:t>
            </a:r>
          </a:p>
          <a:p>
            <a:r>
              <a:rPr lang="fr-CA" sz="4400" b="1" dirty="0">
                <a:solidFill>
                  <a:schemeClr val="accent6">
                    <a:lumMod val="75000"/>
                  </a:schemeClr>
                </a:solidFill>
                <a:latin typeface="Atkinson Hyperlegible"/>
              </a:rPr>
              <a:t>agentique</a:t>
            </a:r>
            <a:r>
              <a:rPr lang="fr-CA" sz="4400" b="1" dirty="0">
                <a:solidFill>
                  <a:srgbClr val="EEF3FF"/>
                </a:solidFill>
                <a:latin typeface="Atkinson Hyperlegible"/>
              </a:rPr>
              <a:t>…</a:t>
            </a:r>
          </a:p>
          <a:p>
            <a:pPr algn="l"/>
            <a:r>
              <a:rPr sz="4400" b="1" dirty="0" err="1">
                <a:solidFill>
                  <a:srgbClr val="EEF3FF"/>
                </a:solidFill>
                <a:latin typeface="Atkinson Hyperlegible"/>
              </a:rPr>
              <a:t>vraiment</a:t>
            </a:r>
            <a:r>
              <a:rPr sz="4400" b="1" dirty="0">
                <a:solidFill>
                  <a:srgbClr val="EEF3FF"/>
                </a:solidFill>
                <a:latin typeface="Atkinson Hyperlegible"/>
              </a:rPr>
              <a:t>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7625" cy="6858000"/>
          </a:xfrm>
          <a:prstGeom prst="rect">
            <a:avLst/>
          </a:prstGeom>
          <a:solidFill>
            <a:srgbClr val="14D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1586539"/>
            <a:ext cx="66675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spc="300" dirty="0">
                <a:solidFill>
                  <a:srgbClr val="B8CCEE"/>
                </a:solidFill>
                <a:latin typeface="DM Sans"/>
              </a:rPr>
              <a:t>OBJECTIFS PÉDAGOGIQUE</a:t>
            </a:r>
            <a:r>
              <a:rPr lang="fr-CA" sz="900" b="0" i="0" spc="300" dirty="0">
                <a:solidFill>
                  <a:srgbClr val="B8CCEE"/>
                </a:solidFill>
                <a:latin typeface="DM Sans"/>
              </a:rPr>
              <a:t>S</a:t>
            </a:r>
            <a:endParaRPr sz="900" b="0" i="0" spc="300" dirty="0">
              <a:solidFill>
                <a:srgbClr val="B8CCEE"/>
              </a:solidFill>
              <a:latin typeface="DM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1931958"/>
            <a:ext cx="1082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EEF3FF"/>
                </a:solidFill>
                <a:latin typeface="Atkinson Hyperlegible"/>
              </a:rPr>
              <a:t>À la fin de </a:t>
            </a:r>
            <a:r>
              <a:rPr sz="2800" b="1" dirty="0" err="1">
                <a:solidFill>
                  <a:srgbClr val="EEF3FF"/>
                </a:solidFill>
                <a:latin typeface="Atkinson Hyperlegible"/>
              </a:rPr>
              <a:t>cette</a:t>
            </a:r>
            <a:r>
              <a:rPr sz="2800" b="1" dirty="0">
                <a:solidFill>
                  <a:srgbClr val="EEF3FF"/>
                </a:solidFill>
                <a:latin typeface="Atkinson Hyperlegible"/>
              </a:rPr>
              <a:t> session, vous </a:t>
            </a:r>
            <a:r>
              <a:rPr sz="2800" b="1" dirty="0" err="1">
                <a:solidFill>
                  <a:srgbClr val="EEF3FF"/>
                </a:solidFill>
                <a:latin typeface="Atkinson Hyperlegible"/>
              </a:rPr>
              <a:t>serez</a:t>
            </a:r>
            <a:r>
              <a:rPr sz="2800" b="1" dirty="0">
                <a:solidFill>
                  <a:srgbClr val="EEF3FF"/>
                </a:solidFill>
                <a:latin typeface="Atkinson Hyperlegible"/>
              </a:rPr>
              <a:t> </a:t>
            </a:r>
            <a:r>
              <a:rPr sz="2800" b="1" dirty="0" err="1">
                <a:solidFill>
                  <a:srgbClr val="EEF3FF"/>
                </a:solidFill>
                <a:latin typeface="Atkinson Hyperlegible"/>
              </a:rPr>
              <a:t>capables</a:t>
            </a:r>
            <a:r>
              <a:rPr sz="2800" b="1" dirty="0">
                <a:solidFill>
                  <a:srgbClr val="EEF3FF"/>
                </a:solidFill>
                <a:latin typeface="Atkinson Hyperlegible"/>
              </a:rPr>
              <a:t> de</a:t>
            </a:r>
            <a:r>
              <a:rPr lang="fr-CA" sz="2800" b="1" dirty="0">
                <a:solidFill>
                  <a:srgbClr val="EEF3FF"/>
                </a:solidFill>
                <a:latin typeface="Atkinson Hyperlegible"/>
              </a:rPr>
              <a:t>…</a:t>
            </a:r>
            <a:r>
              <a:rPr sz="2800" b="1" dirty="0">
                <a:solidFill>
                  <a:srgbClr val="EEF3FF"/>
                </a:solidFill>
                <a:latin typeface="Atkinson Hyperlegible"/>
              </a:rPr>
              <a:t>                 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04545"/>
            <a:ext cx="2571750" cy="55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CA" sz="3000" b="1" i="0" dirty="0">
                <a:solidFill>
                  <a:srgbClr val="14D9C8"/>
                </a:solidFill>
                <a:latin typeface="Atkinson Hyperlegible"/>
              </a:rPr>
              <a:t>01</a:t>
            </a:r>
            <a:endParaRPr sz="3000" b="1" i="0" dirty="0">
              <a:solidFill>
                <a:srgbClr val="14D9C8"/>
              </a:solidFill>
              <a:latin typeface="Atkinson Hyperlegible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3422849"/>
            <a:ext cx="2571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 err="1">
                <a:solidFill>
                  <a:srgbClr val="EEF3FF"/>
                </a:solidFill>
              </a:rPr>
              <a:t>Comprendre</a:t>
            </a:r>
            <a:r>
              <a:rPr sz="1200" dirty="0">
                <a:solidFill>
                  <a:srgbClr val="EEF3FF"/>
                </a:solidFill>
              </a:rPr>
              <a:t> </a:t>
            </a:r>
            <a:r>
              <a:rPr sz="1200" dirty="0" err="1">
                <a:solidFill>
                  <a:srgbClr val="EEF3FF"/>
                </a:solidFill>
              </a:rPr>
              <a:t>ce</a:t>
            </a:r>
            <a:r>
              <a:rPr sz="1200" dirty="0">
                <a:solidFill>
                  <a:srgbClr val="EEF3FF"/>
                </a:solidFill>
              </a:rPr>
              <a:t> </a:t>
            </a:r>
            <a:r>
              <a:rPr sz="1200" dirty="0" err="1">
                <a:solidFill>
                  <a:srgbClr val="EEF3FF"/>
                </a:solidFill>
              </a:rPr>
              <a:t>qu'est</a:t>
            </a:r>
            <a:r>
              <a:rPr sz="1200" dirty="0">
                <a:solidFill>
                  <a:srgbClr val="EEF3FF"/>
                </a:solidFill>
              </a:rPr>
              <a:t> un</a:t>
            </a:r>
            <a:r>
              <a:rPr lang="fr-CA" sz="1200" dirty="0">
                <a:solidFill>
                  <a:srgbClr val="EEF3FF"/>
                </a:solidFill>
              </a:rPr>
              <a:t> </a:t>
            </a:r>
            <a:r>
              <a:rPr sz="1200" b="1" dirty="0">
                <a:solidFill>
                  <a:schemeClr val="bg1"/>
                </a:solidFill>
              </a:rPr>
              <a:t>système</a:t>
            </a:r>
            <a:r>
              <a:rPr sz="1200" b="1" dirty="0">
                <a:solidFill>
                  <a:srgbClr val="EEF3FF"/>
                </a:solidFill>
              </a:rPr>
              <a:t> de design</a:t>
            </a:r>
            <a:r>
              <a:rPr sz="1200" dirty="0">
                <a:solidFill>
                  <a:srgbClr val="EEF3FF"/>
                </a:solidFill>
              </a:rPr>
              <a:t> à la base.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67972"/>
            <a:ext cx="25717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BFC9DB"/>
                </a:solidFill>
              </a:rPr>
              <a:t>Pas </a:t>
            </a:r>
            <a:r>
              <a:rPr sz="1000" b="0" i="0" dirty="0" err="1">
                <a:solidFill>
                  <a:srgbClr val="BFC9DB"/>
                </a:solidFill>
              </a:rPr>
              <a:t>juste</a:t>
            </a:r>
            <a:r>
              <a:rPr sz="1000" b="0" i="0" dirty="0">
                <a:solidFill>
                  <a:srgbClr val="BFC9DB"/>
                </a:solidFill>
              </a:rPr>
              <a:t> un guide de style ou une bibliothèque</a:t>
            </a:r>
            <a:r>
              <a:rPr lang="fr-CA" sz="1000" b="0" i="0" dirty="0">
                <a:solidFill>
                  <a:srgbClr val="BFC9DB"/>
                </a:solidFill>
              </a:rPr>
              <a:t> </a:t>
            </a:r>
            <a:r>
              <a:rPr sz="1000" b="0" i="0" dirty="0">
                <a:solidFill>
                  <a:srgbClr val="BFC9DB"/>
                </a:solidFill>
              </a:rPr>
              <a:t>de composants.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48050" y="2904545"/>
            <a:ext cx="2571750" cy="55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CA" sz="3000" b="1" i="0" dirty="0">
                <a:solidFill>
                  <a:srgbClr val="14D9C8"/>
                </a:solidFill>
                <a:latin typeface="Atkinson Hyperlegible"/>
              </a:rPr>
              <a:t>02</a:t>
            </a:r>
            <a:endParaRPr sz="3000" b="1" i="0" dirty="0">
              <a:solidFill>
                <a:srgbClr val="14D9C8"/>
              </a:solidFill>
              <a:latin typeface="Atkinson Hyperlegible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448050" y="3422849"/>
            <a:ext cx="2571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 err="1">
                <a:solidFill>
                  <a:srgbClr val="EEF3FF"/>
                </a:solidFill>
              </a:rPr>
              <a:t>Expliquer</a:t>
            </a:r>
            <a:r>
              <a:rPr sz="1200" dirty="0">
                <a:solidFill>
                  <a:srgbClr val="EEF3FF"/>
                </a:solidFill>
              </a:rPr>
              <a:t> </a:t>
            </a:r>
            <a:r>
              <a:rPr sz="1200" dirty="0" err="1">
                <a:solidFill>
                  <a:srgbClr val="EEF3FF"/>
                </a:solidFill>
              </a:rPr>
              <a:t>pourquoi</a:t>
            </a:r>
            <a:r>
              <a:rPr sz="1200" dirty="0">
                <a:solidFill>
                  <a:srgbClr val="EEF3FF"/>
                </a:solidFill>
              </a:rPr>
              <a:t> le concept</a:t>
            </a:r>
            <a:r>
              <a:rPr lang="fr-CA" sz="1200" dirty="0">
                <a:solidFill>
                  <a:srgbClr val="EEF3FF"/>
                </a:solidFill>
              </a:rPr>
              <a:t> </a:t>
            </a:r>
            <a:r>
              <a:rPr sz="1200" b="1" dirty="0" err="1">
                <a:solidFill>
                  <a:srgbClr val="EEF3FF"/>
                </a:solidFill>
              </a:rPr>
              <a:t>évolue</a:t>
            </a:r>
            <a:r>
              <a:rPr sz="1200" dirty="0">
                <a:solidFill>
                  <a:srgbClr val="EEF3FF"/>
                </a:solidFill>
              </a:rPr>
              <a:t> avec les agents </a:t>
            </a:r>
            <a:r>
              <a:rPr sz="1200" dirty="0" err="1">
                <a:solidFill>
                  <a:srgbClr val="EEF3FF"/>
                </a:solidFill>
              </a:rPr>
              <a:t>d'IA</a:t>
            </a:r>
            <a:r>
              <a:rPr sz="1200" dirty="0">
                <a:solidFill>
                  <a:srgbClr val="EEF3FF"/>
                </a:solidFill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8050" y="3867972"/>
            <a:ext cx="25717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BFC9DB"/>
                </a:solidFill>
              </a:rPr>
              <a:t>Comprendre</a:t>
            </a:r>
            <a:r>
              <a:rPr sz="1000" b="0" i="0" dirty="0">
                <a:solidFill>
                  <a:srgbClr val="BFC9DB"/>
                </a:solidFill>
              </a:rPr>
              <a:t> </a:t>
            </a:r>
            <a:r>
              <a:rPr sz="1000" b="0" i="0" dirty="0" err="1">
                <a:solidFill>
                  <a:srgbClr val="BFC9DB"/>
                </a:solidFill>
              </a:rPr>
              <a:t>ce</a:t>
            </a:r>
            <a:r>
              <a:rPr sz="1000" b="0" i="0" dirty="0">
                <a:solidFill>
                  <a:srgbClr val="BFC9DB"/>
                </a:solidFill>
              </a:rPr>
              <a:t> </a:t>
            </a:r>
            <a:r>
              <a:rPr sz="1000" b="0" i="0" dirty="0" err="1">
                <a:solidFill>
                  <a:srgbClr val="BFC9DB"/>
                </a:solidFill>
              </a:rPr>
              <a:t>que</a:t>
            </a:r>
            <a:r>
              <a:rPr sz="1000" b="0" i="0" dirty="0">
                <a:solidFill>
                  <a:srgbClr val="BFC9DB"/>
                </a:solidFill>
              </a:rPr>
              <a:t> font (et ne font pas) les</a:t>
            </a:r>
            <a:r>
              <a:rPr lang="fr-CA" sz="1000" b="0" i="0" dirty="0">
                <a:solidFill>
                  <a:srgbClr val="BFC9DB"/>
                </a:solidFill>
              </a:rPr>
              <a:t> </a:t>
            </a:r>
            <a:r>
              <a:rPr sz="1000" b="0" i="0" dirty="0">
                <a:solidFill>
                  <a:srgbClr val="BFC9DB"/>
                </a:solidFill>
              </a:rPr>
              <a:t>agents.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300" y="2904545"/>
            <a:ext cx="2571750" cy="55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CA" sz="3000" b="1" i="0" dirty="0">
                <a:solidFill>
                  <a:srgbClr val="14D9C8"/>
                </a:solidFill>
                <a:latin typeface="Atkinson Hyperlegible"/>
              </a:rPr>
              <a:t>03</a:t>
            </a:r>
            <a:endParaRPr sz="3000" b="1" i="0" dirty="0">
              <a:solidFill>
                <a:srgbClr val="14D9C8"/>
              </a:solidFill>
              <a:latin typeface="Atkinson Hyperlegible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0300" y="3422849"/>
            <a:ext cx="2571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 err="1">
                <a:solidFill>
                  <a:srgbClr val="EEF3FF"/>
                </a:solidFill>
              </a:rPr>
              <a:t>Définir</a:t>
            </a:r>
            <a:r>
              <a:rPr sz="1200" dirty="0">
                <a:solidFill>
                  <a:srgbClr val="EEF3FF"/>
                </a:solidFill>
              </a:rPr>
              <a:t> </a:t>
            </a:r>
            <a:r>
              <a:rPr sz="1200" dirty="0" err="1">
                <a:solidFill>
                  <a:srgbClr val="EEF3FF"/>
                </a:solidFill>
              </a:rPr>
              <a:t>ce</a:t>
            </a:r>
            <a:r>
              <a:rPr sz="1200" dirty="0">
                <a:solidFill>
                  <a:srgbClr val="EEF3FF"/>
                </a:solidFill>
              </a:rPr>
              <a:t> </a:t>
            </a:r>
            <a:r>
              <a:rPr sz="1200" dirty="0" err="1">
                <a:solidFill>
                  <a:srgbClr val="EEF3FF"/>
                </a:solidFill>
              </a:rPr>
              <a:t>qu'est</a:t>
            </a:r>
            <a:r>
              <a:rPr sz="1200" dirty="0">
                <a:solidFill>
                  <a:srgbClr val="EEF3FF"/>
                </a:solidFill>
              </a:rPr>
              <a:t> un</a:t>
            </a:r>
            <a:r>
              <a:rPr lang="fr-CA" sz="1200" dirty="0">
                <a:solidFill>
                  <a:srgbClr val="EEF3FF"/>
                </a:solidFill>
              </a:rPr>
              <a:t> </a:t>
            </a:r>
            <a:r>
              <a:rPr sz="1200" b="1" dirty="0">
                <a:solidFill>
                  <a:srgbClr val="EEF3FF"/>
                </a:solidFill>
              </a:rPr>
              <a:t>système de design </a:t>
            </a:r>
            <a:r>
              <a:rPr sz="1200" b="1" dirty="0" err="1">
                <a:solidFill>
                  <a:srgbClr val="EEF3FF"/>
                </a:solidFill>
              </a:rPr>
              <a:t>agentique</a:t>
            </a:r>
            <a:r>
              <a:rPr sz="1200" dirty="0">
                <a:solidFill>
                  <a:srgbClr val="EEF3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300" y="3867972"/>
            <a:ext cx="25717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BFC9DB"/>
                </a:solidFill>
              </a:rPr>
              <a:t>Et </a:t>
            </a:r>
            <a:r>
              <a:rPr sz="1000" b="0" i="0" dirty="0" err="1">
                <a:solidFill>
                  <a:srgbClr val="BFC9DB"/>
                </a:solidFill>
              </a:rPr>
              <a:t>ce</a:t>
            </a:r>
            <a:r>
              <a:rPr sz="1000" b="0" i="0" dirty="0">
                <a:solidFill>
                  <a:srgbClr val="BFC9DB"/>
                </a:solidFill>
              </a:rPr>
              <a:t> </a:t>
            </a:r>
            <a:r>
              <a:rPr sz="1000" b="0" i="0" dirty="0" err="1">
                <a:solidFill>
                  <a:srgbClr val="BFC9DB"/>
                </a:solidFill>
              </a:rPr>
              <a:t>que</a:t>
            </a:r>
            <a:r>
              <a:rPr sz="1000" b="0" i="0" dirty="0">
                <a:solidFill>
                  <a:srgbClr val="BFC9DB"/>
                </a:solidFill>
              </a:rPr>
              <a:t> </a:t>
            </a:r>
            <a:r>
              <a:rPr sz="1000" b="0" i="0" dirty="0" err="1">
                <a:solidFill>
                  <a:srgbClr val="BFC9DB"/>
                </a:solidFill>
              </a:rPr>
              <a:t>ce</a:t>
            </a:r>
            <a:r>
              <a:rPr sz="1000" b="0" i="0" dirty="0">
                <a:solidFill>
                  <a:srgbClr val="BFC9DB"/>
                </a:solidFill>
              </a:rPr>
              <a:t> n'est </a:t>
            </a:r>
            <a:r>
              <a:rPr sz="1000" b="0" i="0" dirty="0" err="1">
                <a:solidFill>
                  <a:srgbClr val="BFC9DB"/>
                </a:solidFill>
              </a:rPr>
              <a:t>absolument</a:t>
            </a:r>
            <a:r>
              <a:rPr sz="1000" b="0" i="0" dirty="0">
                <a:solidFill>
                  <a:srgbClr val="BFC9DB"/>
                </a:solidFill>
              </a:rPr>
              <a:t> pas.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2550" y="2904545"/>
            <a:ext cx="2571750" cy="55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CA" sz="3000" b="1" i="0" dirty="0">
                <a:solidFill>
                  <a:srgbClr val="14D9C8"/>
                </a:solidFill>
                <a:latin typeface="Atkinson Hyperlegible"/>
              </a:rPr>
              <a:t>04</a:t>
            </a:r>
            <a:endParaRPr sz="3000" b="1" i="0" dirty="0">
              <a:solidFill>
                <a:srgbClr val="14D9C8"/>
              </a:solidFill>
              <a:latin typeface="Atkinson Hyperlegible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972550" y="3422849"/>
            <a:ext cx="2571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>
                <a:solidFill>
                  <a:srgbClr val="EEF3FF"/>
                </a:solidFill>
              </a:rPr>
              <a:t>Identifier les</a:t>
            </a:r>
            <a:r>
              <a:rPr lang="fr-CA" sz="1200" dirty="0">
                <a:solidFill>
                  <a:srgbClr val="EEF3FF"/>
                </a:solidFill>
              </a:rPr>
              <a:t> </a:t>
            </a:r>
            <a:r>
              <a:rPr sz="1200" b="1" dirty="0">
                <a:solidFill>
                  <a:srgbClr val="EEF3FF"/>
                </a:solidFill>
              </a:rPr>
              <a:t>implications </a:t>
            </a:r>
            <a:r>
              <a:rPr sz="1200" b="1" dirty="0" err="1">
                <a:solidFill>
                  <a:srgbClr val="EEF3FF"/>
                </a:solidFill>
              </a:rPr>
              <a:t>concrètes</a:t>
            </a:r>
            <a:r>
              <a:rPr sz="1200" dirty="0">
                <a:solidFill>
                  <a:srgbClr val="EEF3FF"/>
                </a:solidFill>
              </a:rPr>
              <a:t> pour </a:t>
            </a:r>
            <a:r>
              <a:rPr sz="1200" dirty="0" err="1">
                <a:solidFill>
                  <a:srgbClr val="EEF3FF"/>
                </a:solidFill>
              </a:rPr>
              <a:t>vos</a:t>
            </a:r>
            <a:r>
              <a:rPr sz="1200" dirty="0">
                <a:solidFill>
                  <a:srgbClr val="EEF3FF"/>
                </a:solidFill>
              </a:rPr>
              <a:t> équipes.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2550" y="3867972"/>
            <a:ext cx="25717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BFC9DB"/>
                </a:solidFill>
              </a:rPr>
              <a:t>Design, CX, communications, gestion.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7625" cy="6858000"/>
          </a:xfrm>
          <a:prstGeom prst="rect">
            <a:avLst/>
          </a:prstGeom>
          <a:solidFill>
            <a:srgbClr val="14D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7700" y="1328609"/>
            <a:ext cx="66675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spc="300" dirty="0">
                <a:solidFill>
                  <a:srgbClr val="B8CCEE"/>
                </a:solidFill>
                <a:latin typeface="DM Sans"/>
              </a:rPr>
              <a:t>LE PROBLÈME DE DÉPART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1538159"/>
            <a:ext cx="66675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chemeClr val="bg1"/>
                </a:solidFill>
                <a:latin typeface="Atkinson Hyperlegible"/>
              </a:rPr>
              <a:t>Ces</a:t>
            </a:r>
            <a:r>
              <a:rPr sz="3200" b="1" dirty="0">
                <a:solidFill>
                  <a:schemeClr val="bg1"/>
                </a:solidFill>
                <a:latin typeface="Atkinson Hyperlegible"/>
              </a:rPr>
              <a:t> </a:t>
            </a:r>
            <a:r>
              <a:rPr sz="3200" b="1" dirty="0" err="1">
                <a:solidFill>
                  <a:schemeClr val="bg1"/>
                </a:solidFill>
                <a:latin typeface="Atkinson Hyperlegible"/>
              </a:rPr>
              <a:t>termes</a:t>
            </a:r>
            <a:r>
              <a:rPr sz="3200" b="1" dirty="0">
                <a:solidFill>
                  <a:schemeClr val="bg1"/>
                </a:solidFill>
                <a:latin typeface="Atkinson Hyperlegible"/>
              </a:rPr>
              <a:t> ne sont</a:t>
            </a:r>
          </a:p>
          <a:p>
            <a:pPr algn="l"/>
            <a:r>
              <a:rPr sz="3200" b="1" dirty="0">
                <a:solidFill>
                  <a:schemeClr val="bg1"/>
                </a:solidFill>
                <a:latin typeface="Atkinson Hyperlegible"/>
              </a:rPr>
              <a:t>pas </a:t>
            </a:r>
            <a:r>
              <a:rPr sz="3200" b="1" dirty="0" err="1">
                <a:solidFill>
                  <a:schemeClr val="bg1"/>
                </a:solidFill>
                <a:latin typeface="Atkinson Hyperlegible"/>
              </a:rPr>
              <a:t>synonymes</a:t>
            </a:r>
            <a:r>
              <a:rPr sz="3200" b="1" dirty="0">
                <a:solidFill>
                  <a:schemeClr val="bg1"/>
                </a:solidFill>
                <a:latin typeface="Atkinson Hyperlegible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7700" y="2651125"/>
            <a:ext cx="66675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B8CCEE"/>
                </a:solidFill>
              </a:rPr>
              <a:t>Dans beaucoup </a:t>
            </a:r>
            <a:r>
              <a:rPr sz="1300" dirty="0" err="1">
                <a:solidFill>
                  <a:srgbClr val="B8CCEE"/>
                </a:solidFill>
              </a:rPr>
              <a:t>d'organisations</a:t>
            </a:r>
            <a:r>
              <a:rPr sz="1300" dirty="0">
                <a:solidFill>
                  <a:srgbClr val="B8CCEE"/>
                </a:solidFill>
              </a:rPr>
              <a:t>, quatre concepts sont utilisés </a:t>
            </a:r>
            <a:r>
              <a:rPr sz="1300" dirty="0" err="1">
                <a:solidFill>
                  <a:srgbClr val="B8CCEE"/>
                </a:solidFill>
              </a:rPr>
              <a:t>comme</a:t>
            </a:r>
            <a:r>
              <a:rPr sz="1300" dirty="0">
                <a:solidFill>
                  <a:srgbClr val="B8CCEE"/>
                </a:solidFill>
              </a:rPr>
              <a:t> </a:t>
            </a:r>
            <a:r>
              <a:rPr sz="1300" dirty="0" err="1">
                <a:solidFill>
                  <a:srgbClr val="B8CCEE"/>
                </a:solidFill>
              </a:rPr>
              <a:t>s'ils</a:t>
            </a:r>
            <a:r>
              <a:rPr sz="1300" dirty="0">
                <a:solidFill>
                  <a:srgbClr val="B8CCEE"/>
                </a:solidFill>
              </a:rPr>
              <a:t> </a:t>
            </a:r>
            <a:r>
              <a:rPr sz="1300" dirty="0" err="1">
                <a:solidFill>
                  <a:srgbClr val="B8CCEE"/>
                </a:solidFill>
              </a:rPr>
              <a:t>désignaient</a:t>
            </a:r>
            <a:r>
              <a:rPr lang="fr-CA" sz="1300" dirty="0">
                <a:solidFill>
                  <a:srgbClr val="B8CCEE"/>
                </a:solidFill>
              </a:rPr>
              <a:t> </a:t>
            </a:r>
            <a:r>
              <a:rPr sz="1300" dirty="0">
                <a:solidFill>
                  <a:srgbClr val="B8CCEE"/>
                </a:solidFill>
              </a:rPr>
              <a:t>la </a:t>
            </a:r>
            <a:r>
              <a:rPr sz="1300" dirty="0" err="1">
                <a:solidFill>
                  <a:srgbClr val="B8CCEE"/>
                </a:solidFill>
              </a:rPr>
              <a:t>même</a:t>
            </a:r>
            <a:r>
              <a:rPr sz="1300" dirty="0">
                <a:solidFill>
                  <a:srgbClr val="B8CCEE"/>
                </a:solidFill>
              </a:rPr>
              <a:t> chose. Cette confusion </a:t>
            </a:r>
            <a:r>
              <a:rPr sz="1300" dirty="0" err="1">
                <a:solidFill>
                  <a:srgbClr val="B8CCEE"/>
                </a:solidFill>
              </a:rPr>
              <a:t>devient</a:t>
            </a:r>
            <a:r>
              <a:rPr sz="1300" dirty="0">
                <a:solidFill>
                  <a:srgbClr val="B8CCEE"/>
                </a:solidFill>
              </a:rPr>
              <a:t> </a:t>
            </a:r>
            <a:r>
              <a:rPr sz="1300" dirty="0" err="1">
                <a:solidFill>
                  <a:srgbClr val="B8CCEE"/>
                </a:solidFill>
              </a:rPr>
              <a:t>coûteuse</a:t>
            </a:r>
            <a:r>
              <a:rPr lang="fr-CA" sz="1300" dirty="0">
                <a:solidFill>
                  <a:srgbClr val="B8CCEE"/>
                </a:solidFill>
              </a:rPr>
              <a:t>.</a:t>
            </a:r>
            <a:endParaRPr sz="1300" dirty="0">
              <a:solidFill>
                <a:srgbClr val="B8CCEE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282700" y="3717925"/>
            <a:ext cx="38100" cy="647700"/>
          </a:xfrm>
          <a:prstGeom prst="rect">
            <a:avLst/>
          </a:prstGeom>
          <a:solidFill>
            <a:srgbClr val="ED6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35100" y="3745587"/>
            <a:ext cx="443865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EEF3FF"/>
                </a:solidFill>
              </a:rPr>
              <a:t>Avant de </a:t>
            </a:r>
            <a:r>
              <a:rPr sz="1100" b="0" i="1" dirty="0" err="1">
                <a:solidFill>
                  <a:srgbClr val="EEF3FF"/>
                </a:solidFill>
              </a:rPr>
              <a:t>parler</a:t>
            </a:r>
            <a:r>
              <a:rPr sz="1100" b="0" i="1" dirty="0">
                <a:solidFill>
                  <a:srgbClr val="EEF3FF"/>
                </a:solidFill>
              </a:rPr>
              <a:t> </a:t>
            </a:r>
            <a:r>
              <a:rPr sz="1100" b="0" i="1" dirty="0" err="1">
                <a:solidFill>
                  <a:srgbClr val="EEF3FF"/>
                </a:solidFill>
              </a:rPr>
              <a:t>d'agentique</a:t>
            </a:r>
            <a:r>
              <a:rPr sz="1100" b="0" i="1" dirty="0">
                <a:solidFill>
                  <a:srgbClr val="EEF3FF"/>
                </a:solidFill>
              </a:rPr>
              <a:t>, il faut </a:t>
            </a:r>
            <a:r>
              <a:rPr sz="1100" b="0" i="1" dirty="0" err="1">
                <a:solidFill>
                  <a:srgbClr val="EEF3FF"/>
                </a:solidFill>
              </a:rPr>
              <a:t>s'assurer</a:t>
            </a:r>
            <a:r>
              <a:rPr sz="1100" b="0" i="1" dirty="0">
                <a:solidFill>
                  <a:srgbClr val="EEF3FF"/>
                </a:solidFill>
              </a:rPr>
              <a:t> </a:t>
            </a:r>
            <a:r>
              <a:rPr sz="1100" b="0" i="1" dirty="0" err="1">
                <a:solidFill>
                  <a:srgbClr val="EEF3FF"/>
                </a:solidFill>
              </a:rPr>
              <a:t>que</a:t>
            </a:r>
            <a:r>
              <a:rPr sz="1100" b="0" i="1" dirty="0">
                <a:solidFill>
                  <a:srgbClr val="EEF3FF"/>
                </a:solidFill>
              </a:rPr>
              <a:t> tout le monde part du </a:t>
            </a:r>
            <a:br>
              <a:rPr lang="fr-CA" sz="1100" b="0" i="1" dirty="0">
                <a:solidFill>
                  <a:srgbClr val="EEF3FF"/>
                </a:solidFill>
              </a:rPr>
            </a:br>
            <a:r>
              <a:rPr sz="1100" b="0" i="1" dirty="0" err="1">
                <a:solidFill>
                  <a:srgbClr val="EEF3FF"/>
                </a:solidFill>
              </a:rPr>
              <a:t>même</a:t>
            </a:r>
            <a:r>
              <a:rPr sz="1100" b="0" i="1" dirty="0">
                <a:solidFill>
                  <a:srgbClr val="EEF3FF"/>
                </a:solidFill>
              </a:rPr>
              <a:t> </a:t>
            </a:r>
            <a:r>
              <a:rPr sz="1100" b="0" i="1" dirty="0" err="1">
                <a:solidFill>
                  <a:srgbClr val="EEF3FF"/>
                </a:solidFill>
              </a:rPr>
              <a:t>endroit</a:t>
            </a:r>
            <a:r>
              <a:rPr lang="fr-CA" sz="1100" i="1" dirty="0">
                <a:solidFill>
                  <a:srgbClr val="EEF3FF"/>
                </a:solidFill>
              </a:rPr>
              <a:t>.</a:t>
            </a:r>
            <a:endParaRPr sz="1100" b="0" i="1" dirty="0">
              <a:solidFill>
                <a:srgbClr val="EEF3FF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7625" cy="6858000"/>
          </a:xfrm>
          <a:prstGeom prst="rect">
            <a:avLst/>
          </a:prstGeom>
          <a:solidFill>
            <a:srgbClr val="14D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7700" y="1674419"/>
            <a:ext cx="6858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spc="300" dirty="0">
                <a:solidFill>
                  <a:srgbClr val="B8CCEE"/>
                </a:solidFill>
                <a:latin typeface="DM Sans"/>
              </a:rPr>
              <a:t>DÉFINITION FONDAMENTALE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1883969"/>
            <a:ext cx="6858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F3FF"/>
                </a:solidFill>
                <a:latin typeface="Atkinson Hyperlegible"/>
              </a:rPr>
              <a:t>Un système de design,</a:t>
            </a:r>
          </a:p>
          <a:p>
            <a:pPr algn="l"/>
            <a:r>
              <a:rPr sz="3200" b="1">
                <a:solidFill>
                  <a:srgbClr val="EEF3FF"/>
                </a:solidFill>
                <a:latin typeface="Atkinson Hyperlegible"/>
              </a:rPr>
              <a:t>c'est d'abord ceci.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7700" y="3015463"/>
            <a:ext cx="6858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chemeClr val="bg1">
                    <a:alpha val="85000"/>
                  </a:schemeClr>
                </a:solidFill>
              </a:rPr>
              <a:t>Ce qui le distingue d'un </a:t>
            </a:r>
            <a:r>
              <a:rPr sz="1300" dirty="0" err="1">
                <a:solidFill>
                  <a:schemeClr val="bg1">
                    <a:alpha val="85000"/>
                  </a:schemeClr>
                </a:solidFill>
              </a:rPr>
              <a:t>recueil</a:t>
            </a:r>
            <a:r>
              <a:rPr sz="1300" dirty="0">
                <a:solidFill>
                  <a:schemeClr val="bg1">
                    <a:alpha val="85000"/>
                  </a:schemeClr>
                </a:solidFill>
              </a:rPr>
              <a:t> </a:t>
            </a:r>
            <a:r>
              <a:rPr sz="1300" dirty="0" err="1">
                <a:solidFill>
                  <a:schemeClr val="bg1">
                    <a:alpha val="85000"/>
                  </a:schemeClr>
                </a:solidFill>
              </a:rPr>
              <a:t>visuel</a:t>
            </a:r>
            <a:r>
              <a:rPr sz="1300" dirty="0">
                <a:solidFill>
                  <a:schemeClr val="bg1">
                    <a:alpha val="85000"/>
                  </a:schemeClr>
                </a:solidFill>
              </a:rPr>
              <a:t>, </a:t>
            </a:r>
            <a:r>
              <a:rPr sz="1300" dirty="0" err="1">
                <a:solidFill>
                  <a:schemeClr val="bg1">
                    <a:alpha val="85000"/>
                  </a:schemeClr>
                </a:solidFill>
              </a:rPr>
              <a:t>c'est</a:t>
            </a:r>
            <a:r>
              <a:rPr sz="1300" dirty="0">
                <a:solidFill>
                  <a:schemeClr val="bg1">
                    <a:alpha val="85000"/>
                  </a:schemeClr>
                </a:solidFill>
              </a:rPr>
              <a:t> </a:t>
            </a:r>
            <a:r>
              <a:rPr sz="1300" dirty="0" err="1">
                <a:solidFill>
                  <a:schemeClr val="bg1">
                    <a:alpha val="85000"/>
                  </a:schemeClr>
                </a:solidFill>
              </a:rPr>
              <a:t>sa</a:t>
            </a:r>
            <a:r>
              <a:rPr sz="1300" dirty="0">
                <a:solidFill>
                  <a:schemeClr val="bg1">
                    <a:alpha val="85000"/>
                  </a:schemeClr>
                </a:solidFill>
              </a:rPr>
              <a:t> dimension de</a:t>
            </a:r>
            <a:r>
              <a:rPr lang="fr-CA" sz="1300" dirty="0">
                <a:solidFill>
                  <a:schemeClr val="bg1">
                    <a:alpha val="85000"/>
                  </a:schemeClr>
                </a:solidFill>
              </a:rPr>
              <a:t> </a:t>
            </a:r>
            <a:r>
              <a:rPr sz="1300" b="1" dirty="0" err="1">
                <a:solidFill>
                  <a:schemeClr val="bg1"/>
                </a:solidFill>
              </a:rPr>
              <a:t>gouvernance</a:t>
            </a:r>
            <a:r>
              <a:rPr sz="1300" dirty="0">
                <a:solidFill>
                  <a:schemeClr val="bg1">
                    <a:alpha val="85000"/>
                  </a:schemeClr>
                </a:solidFill>
              </a:rPr>
              <a:t> : il encode des </a:t>
            </a:r>
            <a:r>
              <a:rPr sz="1300" dirty="0" err="1">
                <a:solidFill>
                  <a:schemeClr val="bg1">
                    <a:alpha val="85000"/>
                  </a:schemeClr>
                </a:solidFill>
              </a:rPr>
              <a:t>décisions</a:t>
            </a:r>
            <a:r>
              <a:rPr sz="1300" dirty="0">
                <a:solidFill>
                  <a:schemeClr val="bg1">
                    <a:alpha val="85000"/>
                  </a:schemeClr>
                </a:solidFill>
              </a:rPr>
              <a:t>, pas </a:t>
            </a:r>
            <a:r>
              <a:rPr sz="1300" dirty="0" err="1">
                <a:solidFill>
                  <a:schemeClr val="bg1">
                    <a:alpha val="85000"/>
                  </a:schemeClr>
                </a:solidFill>
              </a:rPr>
              <a:t>seulement</a:t>
            </a:r>
            <a:r>
              <a:rPr sz="1300" dirty="0">
                <a:solidFill>
                  <a:schemeClr val="bg1">
                    <a:alpha val="85000"/>
                  </a:schemeClr>
                </a:solidFill>
              </a:rPr>
              <a:t> des </a:t>
            </a:r>
            <a:r>
              <a:rPr sz="1300" dirty="0" err="1">
                <a:solidFill>
                  <a:schemeClr val="bg1">
                    <a:alpha val="85000"/>
                  </a:schemeClr>
                </a:solidFill>
              </a:rPr>
              <a:t>apparences</a:t>
            </a:r>
            <a:r>
              <a:rPr sz="1300" dirty="0">
                <a:solidFill>
                  <a:schemeClr val="bg1">
                    <a:alpha val="85000"/>
                  </a:schemeClr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7700" y="3586963"/>
            <a:ext cx="685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Il </a:t>
            </a:r>
            <a:r>
              <a:rPr sz="1200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répond</a:t>
            </a:r>
            <a:r>
              <a:rPr sz="1200" dirty="0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 à des questions </a:t>
            </a:r>
            <a:r>
              <a:rPr sz="1200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comme</a:t>
            </a:r>
            <a:r>
              <a:rPr sz="1200" dirty="0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 : « Dans</a:t>
            </a:r>
            <a:r>
              <a:rPr lang="fr-CA" sz="1200" dirty="0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 </a:t>
            </a:r>
            <a:r>
              <a:rPr sz="1200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quel</a:t>
            </a:r>
            <a:r>
              <a:rPr sz="1200" dirty="0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 </a:t>
            </a:r>
            <a:r>
              <a:rPr sz="1200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contexte</a:t>
            </a:r>
            <a:r>
              <a:rPr sz="1200" dirty="0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 </a:t>
            </a:r>
            <a:r>
              <a:rPr sz="1200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utilise</a:t>
            </a:r>
            <a:r>
              <a:rPr sz="1200" dirty="0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-t-on </a:t>
            </a:r>
            <a:r>
              <a:rPr sz="1200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ce</a:t>
            </a:r>
            <a:r>
              <a:rPr sz="1200" dirty="0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 </a:t>
            </a:r>
            <a:r>
              <a:rPr sz="1200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composant</a:t>
            </a:r>
            <a:r>
              <a:rPr sz="1200" dirty="0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 ? », « </a:t>
            </a:r>
            <a:r>
              <a:rPr sz="1200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>Quelles</a:t>
            </a:r>
            <a:r>
              <a:rPr sz="1200" dirty="0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 </a:t>
            </a:r>
            <a:r>
              <a:rPr sz="1200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variantes</a:t>
            </a:r>
            <a:r>
              <a:rPr sz="1200" dirty="0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 sont </a:t>
            </a:r>
            <a:r>
              <a:rPr sz="1200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permises</a:t>
            </a:r>
            <a:r>
              <a:rPr sz="1200" dirty="0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 ? », « </a:t>
            </a:r>
            <a:r>
              <a:rPr sz="1200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Que</a:t>
            </a:r>
            <a:r>
              <a:rPr sz="1200" dirty="0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 se</a:t>
            </a:r>
            <a:r>
              <a:rPr lang="fr-CA" sz="1200" dirty="0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 </a:t>
            </a:r>
            <a:r>
              <a:rPr sz="1200" dirty="0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passe-t-il </a:t>
            </a:r>
            <a:r>
              <a:rPr sz="1200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quand</a:t>
            </a:r>
            <a:r>
              <a:rPr sz="1200" dirty="0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 on </a:t>
            </a:r>
            <a:r>
              <a:rPr sz="1200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dépasse</a:t>
            </a:r>
            <a:r>
              <a:rPr sz="1200" dirty="0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 </a:t>
            </a:r>
            <a:r>
              <a:rPr sz="1200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cette</a:t>
            </a:r>
            <a:r>
              <a:rPr sz="1200" dirty="0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 </a:t>
            </a:r>
            <a:r>
              <a:rPr sz="1200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limite</a:t>
            </a:r>
            <a:r>
              <a:rPr sz="1200" dirty="0">
                <a:solidFill>
                  <a:schemeClr val="tx2">
                    <a:lumMod val="40000"/>
                    <a:lumOff val="60000"/>
                  </a:schemeClr>
                </a:solidFill>
                <a:latin typeface="DM Sans"/>
              </a:rPr>
              <a:t> ?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" y="4158463"/>
            <a:ext cx="6858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>Ces</a:t>
            </a:r>
            <a:r>
              <a:rPr sz="1100" dirty="0">
                <a:solidFill>
                  <a:schemeClr val="tx2">
                    <a:lumMod val="40000"/>
                    <a:lumOff val="60000"/>
                  </a:schemeClr>
                </a:solidFill>
              </a:rPr>
              <a:t> </a:t>
            </a:r>
            <a:r>
              <a:rPr sz="1100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>décisions</a:t>
            </a:r>
            <a:r>
              <a:rPr sz="1100" dirty="0">
                <a:solidFill>
                  <a:schemeClr val="tx2">
                    <a:lumMod val="40000"/>
                    <a:lumOff val="60000"/>
                  </a:schemeClr>
                </a:solidFill>
              </a:rPr>
              <a:t> ne se </a:t>
            </a:r>
            <a:r>
              <a:rPr sz="1100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>voient</a:t>
            </a:r>
            <a:r>
              <a:rPr sz="1100" dirty="0">
                <a:solidFill>
                  <a:schemeClr val="tx2">
                    <a:lumMod val="40000"/>
                    <a:lumOff val="60000"/>
                  </a:schemeClr>
                </a:solidFill>
              </a:rPr>
              <a:t> pas </a:t>
            </a:r>
            <a:r>
              <a:rPr sz="1100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>toujours</a:t>
            </a:r>
            <a:r>
              <a:rPr lang="fr-CA" sz="1100" dirty="0">
                <a:solidFill>
                  <a:schemeClr val="tx2">
                    <a:lumMod val="40000"/>
                    <a:lumOff val="60000"/>
                  </a:schemeClr>
                </a:solidFill>
              </a:rPr>
              <a:t> </a:t>
            </a:r>
            <a:r>
              <a:rPr sz="1100" dirty="0">
                <a:solidFill>
                  <a:schemeClr val="tx2">
                    <a:lumMod val="40000"/>
                    <a:lumOff val="60000"/>
                  </a:schemeClr>
                </a:solidFill>
              </a:rPr>
              <a:t>dans une interface — </a:t>
            </a:r>
            <a:r>
              <a:rPr sz="1100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>mais</a:t>
            </a:r>
            <a:r>
              <a:rPr sz="1100" dirty="0">
                <a:solidFill>
                  <a:schemeClr val="tx2">
                    <a:lumMod val="40000"/>
                    <a:lumOff val="60000"/>
                  </a:schemeClr>
                </a:solidFill>
              </a:rPr>
              <a:t> </a:t>
            </a:r>
            <a:r>
              <a:rPr sz="1100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>ce</a:t>
            </a:r>
            <a:r>
              <a:rPr sz="1100" dirty="0">
                <a:solidFill>
                  <a:schemeClr val="tx2">
                    <a:lumMod val="40000"/>
                    <a:lumOff val="60000"/>
                  </a:schemeClr>
                </a:solidFill>
              </a:rPr>
              <a:t> sont </a:t>
            </a:r>
            <a:r>
              <a:rPr sz="1100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>elles</a:t>
            </a:r>
            <a:r>
              <a:rPr sz="1100" dirty="0">
                <a:solidFill>
                  <a:schemeClr val="tx2">
                    <a:lumMod val="40000"/>
                    <a:lumOff val="60000"/>
                  </a:schemeClr>
                </a:solidFill>
              </a:rPr>
              <a:t> qui font </a:t>
            </a:r>
            <a:r>
              <a:rPr sz="1100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>tenir</a:t>
            </a:r>
            <a:r>
              <a:rPr sz="1100" dirty="0">
                <a:solidFill>
                  <a:schemeClr val="tx2">
                    <a:lumMod val="40000"/>
                    <a:lumOff val="60000"/>
                  </a:schemeClr>
                </a:solidFill>
              </a:rPr>
              <a:t> </a:t>
            </a:r>
            <a:r>
              <a:rPr sz="1100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>l'ensemble</a:t>
            </a:r>
            <a:r>
              <a:rPr sz="1100" dirty="0">
                <a:solidFill>
                  <a:schemeClr val="tx2">
                    <a:lumMod val="40000"/>
                    <a:lumOff val="60000"/>
                  </a:schemeClr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0500" y="0"/>
            <a:ext cx="4381500" cy="6858000"/>
          </a:xfrm>
          <a:prstGeom prst="rect">
            <a:avLst/>
          </a:prstGeom>
          <a:gradFill flip="none" rotWithShape="1">
            <a:gsLst>
              <a:gs pos="0">
                <a:srgbClr val="3F47EB"/>
              </a:gs>
              <a:gs pos="100000">
                <a:schemeClr val="tx2">
                  <a:lumMod val="50000"/>
                </a:schemeClr>
              </a:gs>
              <a:gs pos="46000">
                <a:srgbClr val="183466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67700" y="1949793"/>
            <a:ext cx="34671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dirty="0">
                <a:solidFill>
                  <a:srgbClr val="EEF3FF"/>
                </a:solidFill>
                <a:latin typeface="Atkinson Hyperlegible"/>
              </a:rPr>
              <a:t>Un ensemble </a:t>
            </a:r>
            <a:r>
              <a:rPr sz="1900" b="1" dirty="0" err="1">
                <a:solidFill>
                  <a:srgbClr val="EEF3FF"/>
                </a:solidFill>
                <a:latin typeface="Atkinson Hyperlegible"/>
              </a:rPr>
              <a:t>structuré</a:t>
            </a:r>
            <a:r>
              <a:rPr sz="1900" b="1" dirty="0">
                <a:solidFill>
                  <a:srgbClr val="EEF3FF"/>
                </a:solidFill>
                <a:latin typeface="Atkinson Hyperlegible"/>
              </a:rPr>
              <a:t> de </a:t>
            </a:r>
            <a:r>
              <a:rPr sz="1900" b="1" dirty="0" err="1">
                <a:solidFill>
                  <a:srgbClr val="14D9C8"/>
                </a:solidFill>
                <a:latin typeface="Atkinson Hyperlegible"/>
              </a:rPr>
              <a:t>décisions</a:t>
            </a:r>
            <a:r>
              <a:rPr sz="1900" b="1" dirty="0">
                <a:solidFill>
                  <a:srgbClr val="14D9C8"/>
                </a:solidFill>
                <a:latin typeface="Atkinson Hyperlegible"/>
              </a:rPr>
              <a:t> </a:t>
            </a:r>
            <a:r>
              <a:rPr sz="1900" b="1" dirty="0" err="1">
                <a:solidFill>
                  <a:srgbClr val="14D9C8"/>
                </a:solidFill>
                <a:latin typeface="Atkinson Hyperlegible"/>
              </a:rPr>
              <a:t>partagées</a:t>
            </a:r>
            <a:r>
              <a:rPr sz="1900" b="1" dirty="0">
                <a:solidFill>
                  <a:srgbClr val="EEF3FF"/>
                </a:solidFill>
                <a:latin typeface="Atkinson Hyperlegible"/>
              </a:rPr>
              <a:t>, </a:t>
            </a:r>
            <a:br>
              <a:rPr lang="fr-CA" sz="1900" b="1" dirty="0">
                <a:solidFill>
                  <a:srgbClr val="EEF3FF"/>
                </a:solidFill>
                <a:latin typeface="Atkinson Hyperlegible"/>
              </a:rPr>
            </a:br>
            <a:r>
              <a:rPr sz="1900" b="1" dirty="0">
                <a:solidFill>
                  <a:srgbClr val="EEF3FF"/>
                </a:solidFill>
                <a:latin typeface="Atkinson Hyperlegible"/>
              </a:rPr>
              <a:t>permettant de </a:t>
            </a:r>
            <a:r>
              <a:rPr sz="1900" b="1" dirty="0" err="1">
                <a:solidFill>
                  <a:srgbClr val="EEF3FF"/>
                </a:solidFill>
                <a:latin typeface="Atkinson Hyperlegible"/>
              </a:rPr>
              <a:t>produire</a:t>
            </a:r>
            <a:r>
              <a:rPr sz="1900" b="1" dirty="0">
                <a:solidFill>
                  <a:srgbClr val="EEF3FF"/>
                </a:solidFill>
                <a:latin typeface="Atkinson Hyperlegible"/>
              </a:rPr>
              <a:t> </a:t>
            </a:r>
            <a:br>
              <a:rPr lang="fr-CA" sz="1900" b="1" dirty="0">
                <a:solidFill>
                  <a:srgbClr val="EEF3FF"/>
                </a:solidFill>
                <a:latin typeface="Atkinson Hyperlegible"/>
              </a:rPr>
            </a:br>
            <a:r>
              <a:rPr sz="1900" b="1" dirty="0">
                <a:solidFill>
                  <a:srgbClr val="EEF3FF"/>
                </a:solidFill>
                <a:latin typeface="Atkinson Hyperlegible"/>
              </a:rPr>
              <a:t>des</a:t>
            </a:r>
            <a:r>
              <a:rPr lang="fr-CA" sz="1900" b="1" dirty="0">
                <a:solidFill>
                  <a:srgbClr val="EEF3FF"/>
                </a:solidFill>
                <a:latin typeface="Atkinson Hyperlegible"/>
              </a:rPr>
              <a:t> </a:t>
            </a:r>
            <a:r>
              <a:rPr sz="1900" b="1" dirty="0" err="1">
                <a:solidFill>
                  <a:srgbClr val="EEF3FF"/>
                </a:solidFill>
                <a:latin typeface="Atkinson Hyperlegible"/>
              </a:rPr>
              <a:t>expériences</a:t>
            </a:r>
            <a:r>
              <a:rPr sz="1900" b="1" dirty="0">
                <a:solidFill>
                  <a:srgbClr val="EEF3FF"/>
                </a:solidFill>
                <a:latin typeface="Atkinson Hyperlegible"/>
              </a:rPr>
              <a:t> </a:t>
            </a:r>
            <a:r>
              <a:rPr sz="1900" b="1" dirty="0" err="1">
                <a:solidFill>
                  <a:srgbClr val="EEF3FF"/>
                </a:solidFill>
                <a:latin typeface="Atkinson Hyperlegible"/>
              </a:rPr>
              <a:t>cohérentes</a:t>
            </a:r>
            <a:r>
              <a:rPr sz="1900" b="1" dirty="0">
                <a:solidFill>
                  <a:srgbClr val="EEF3FF"/>
                </a:solidFill>
                <a:latin typeface="Atkinson Hyperlegible"/>
              </a:rPr>
              <a:t> </a:t>
            </a:r>
            <a:br>
              <a:rPr lang="fr-CA" sz="1900" b="1" dirty="0">
                <a:solidFill>
                  <a:srgbClr val="EEF3FF"/>
                </a:solidFill>
                <a:latin typeface="Atkinson Hyperlegible"/>
              </a:rPr>
            </a:br>
            <a:r>
              <a:rPr sz="1900" b="1" dirty="0">
                <a:solidFill>
                  <a:srgbClr val="EEF3FF"/>
                </a:solidFill>
                <a:latin typeface="Atkinson Hyperlegible"/>
              </a:rPr>
              <a:t>à grande </a:t>
            </a:r>
            <a:r>
              <a:rPr sz="1900" b="1" dirty="0" err="1">
                <a:solidFill>
                  <a:srgbClr val="EEF3FF"/>
                </a:solidFill>
                <a:latin typeface="Atkinson Hyperlegible"/>
              </a:rPr>
              <a:t>échelle</a:t>
            </a:r>
            <a:r>
              <a:rPr lang="fr-CA" sz="1900" b="1" dirty="0">
                <a:solidFill>
                  <a:srgbClr val="EEF3FF"/>
                </a:solidFill>
                <a:latin typeface="Atkinson Hyperlegible"/>
              </a:rPr>
              <a:t>.</a:t>
            </a:r>
            <a:r>
              <a:rPr sz="1900" b="1" dirty="0">
                <a:solidFill>
                  <a:srgbClr val="EEF3FF"/>
                </a:solidFill>
                <a:latin typeface="Atkinson Hyperlegible"/>
              </a:rPr>
              <a:t>
                      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67700" y="3516784"/>
            <a:ext cx="34671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dirty="0">
                <a:solidFill>
                  <a:schemeClr val="bg1"/>
                </a:solidFill>
                <a:latin typeface="DM Sans"/>
              </a:rPr>
              <a:t>— Nielsen Norman Group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67700" y="3878453"/>
            <a:ext cx="3467100" cy="9525"/>
          </a:xfrm>
          <a:prstGeom prst="rect">
            <a:avLst/>
          </a:prstGeom>
          <a:solidFill>
            <a:srgbClr val="FFFFFF">
              <a:alpha val="1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67700" y="4088003"/>
            <a:ext cx="3467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Le système de design </a:t>
            </a:r>
            <a:r>
              <a:rPr sz="1200" dirty="0" err="1">
                <a:solidFill>
                  <a:schemeClr val="tx2">
                    <a:lumMod val="20000"/>
                    <a:lumOff val="80000"/>
                  </a:schemeClr>
                </a:solidFill>
              </a:rPr>
              <a:t>transforme</a:t>
            </a:r>
            <a:r>
              <a:rPr sz="12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 des </a:t>
            </a:r>
            <a:r>
              <a:rPr sz="1200" dirty="0" err="1">
                <a:solidFill>
                  <a:schemeClr val="tx2">
                    <a:lumMod val="20000"/>
                    <a:lumOff val="80000"/>
                  </a:schemeClr>
                </a:solidFill>
              </a:rPr>
              <a:t>décisions</a:t>
            </a:r>
            <a:r>
              <a:rPr lang="fr-CA" sz="12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 </a:t>
            </a:r>
            <a:r>
              <a:rPr sz="1200" dirty="0" err="1">
                <a:solidFill>
                  <a:schemeClr val="tx2">
                    <a:lumMod val="20000"/>
                    <a:lumOff val="80000"/>
                  </a:schemeClr>
                </a:solidFill>
              </a:rPr>
              <a:t>individuelles</a:t>
            </a:r>
            <a:r>
              <a:rPr sz="12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 en </a:t>
            </a:r>
            <a:r>
              <a:rPr sz="1200" b="1" dirty="0">
                <a:solidFill>
                  <a:schemeClr val="bg1"/>
                </a:solidFill>
              </a:rPr>
              <a:t>cadre </a:t>
            </a:r>
            <a:r>
              <a:rPr sz="1200" b="1" dirty="0" err="1">
                <a:solidFill>
                  <a:schemeClr val="bg1"/>
                </a:solidFill>
              </a:rPr>
              <a:t>collectif</a:t>
            </a:r>
            <a:r>
              <a:rPr lang="fr-CA" sz="1200" b="1" dirty="0">
                <a:solidFill>
                  <a:schemeClr val="bg1"/>
                </a:solidFill>
              </a:rPr>
              <a:t>.</a:t>
            </a:r>
            <a:endParaRPr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7625" cy="6858000"/>
          </a:xfrm>
          <a:prstGeom prst="rect">
            <a:avLst/>
          </a:prstGeom>
          <a:solidFill>
            <a:srgbClr val="14D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1447800"/>
            <a:ext cx="66675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spc="300" dirty="0">
                <a:solidFill>
                  <a:srgbClr val="B8CCEE"/>
                </a:solidFill>
                <a:latin typeface="DM Sans"/>
              </a:rPr>
              <a:t>UTILITÉ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57350"/>
            <a:ext cx="1082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EEF3FF"/>
                </a:solidFill>
                <a:latin typeface="Atkinson Hyperlegible"/>
              </a:rPr>
              <a:t>Un système de design </a:t>
            </a:r>
            <a:r>
              <a:rPr sz="2800" b="1" dirty="0" err="1">
                <a:solidFill>
                  <a:srgbClr val="EEF3FF"/>
                </a:solidFill>
                <a:latin typeface="Atkinson Hyperlegible"/>
              </a:rPr>
              <a:t>sert</a:t>
            </a:r>
            <a:r>
              <a:rPr sz="2800" b="1" dirty="0">
                <a:solidFill>
                  <a:srgbClr val="EEF3FF"/>
                </a:solidFill>
                <a:latin typeface="Atkinson Hyperlegible"/>
              </a:rPr>
              <a:t> à</a:t>
            </a:r>
            <a:r>
              <a:rPr lang="fr-CA" sz="2800" b="1" dirty="0">
                <a:solidFill>
                  <a:srgbClr val="EEF3FF"/>
                </a:solidFill>
                <a:latin typeface="Atkinson Hyperlegible"/>
              </a:rPr>
              <a:t>…</a:t>
            </a:r>
            <a:endParaRPr sz="2800" b="1" dirty="0">
              <a:solidFill>
                <a:srgbClr val="EEF3FF"/>
              </a:solidFill>
              <a:latin typeface="Atkinson Hyperlegible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5800" y="2305050"/>
            <a:ext cx="4689475" cy="1314450"/>
          </a:xfrm>
          <a:prstGeom prst="rect">
            <a:avLst/>
          </a:prstGeom>
          <a:solidFill>
            <a:srgbClr val="183466">
              <a:alpha val="15000"/>
            </a:srgbClr>
          </a:solidFill>
          <a:ln>
            <a:solidFill>
              <a:srgbClr val="FFFFFF">
                <a:alpha val="1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7250" y="2476500"/>
            <a:ext cx="33280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3FF"/>
                </a:solidFill>
                <a:latin typeface="DM Sans"/>
              </a:rPr>
              <a:t>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3500" y="2476500"/>
            <a:ext cx="40238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F3FF"/>
                </a:solidFill>
                <a:latin typeface="Atkinson Hyperlegible"/>
              </a:rPr>
              <a:t>Aligner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2781300"/>
            <a:ext cx="379095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 err="1">
                <a:solidFill>
                  <a:srgbClr val="B8CCEE"/>
                </a:solidFill>
              </a:rPr>
              <a:t>Plusieurs</a:t>
            </a:r>
            <a:r>
              <a:rPr sz="1100" dirty="0">
                <a:solidFill>
                  <a:srgbClr val="B8CCEE"/>
                </a:solidFill>
              </a:rPr>
              <a:t> équipes </a:t>
            </a:r>
            <a:r>
              <a:rPr sz="1100" dirty="0" err="1">
                <a:solidFill>
                  <a:srgbClr val="B8CCEE"/>
                </a:solidFill>
              </a:rPr>
              <a:t>autour</a:t>
            </a:r>
            <a:r>
              <a:rPr sz="1100" dirty="0">
                <a:solidFill>
                  <a:srgbClr val="B8CCEE"/>
                </a:solidFill>
              </a:rPr>
              <a:t> des </a:t>
            </a:r>
            <a:r>
              <a:rPr sz="1100" dirty="0" err="1">
                <a:solidFill>
                  <a:srgbClr val="B8CCEE"/>
                </a:solidFill>
              </a:rPr>
              <a:t>mêmes</a:t>
            </a:r>
            <a:r>
              <a:rPr sz="1100" dirty="0">
                <a:solidFill>
                  <a:srgbClr val="B8CCEE"/>
                </a:solidFill>
              </a:rPr>
              <a:t> choix, </a:t>
            </a:r>
            <a:r>
              <a:rPr sz="1100" b="1" dirty="0">
                <a:solidFill>
                  <a:srgbClr val="EEF3FF"/>
                </a:solidFill>
              </a:rPr>
              <a:t>sans coordination </a:t>
            </a:r>
            <a:r>
              <a:rPr sz="1100" b="1" dirty="0" err="1">
                <a:solidFill>
                  <a:srgbClr val="EEF3FF"/>
                </a:solidFill>
              </a:rPr>
              <a:t>constante</a:t>
            </a:r>
            <a:r>
              <a:rPr sz="1100" dirty="0">
                <a:solidFill>
                  <a:srgbClr val="B8CCEE"/>
                </a:solidFill>
              </a:rPr>
              <a:t>. Un langage </a:t>
            </a:r>
            <a:r>
              <a:rPr sz="1100" dirty="0" err="1">
                <a:solidFill>
                  <a:srgbClr val="B8CCEE"/>
                </a:solidFill>
              </a:rPr>
              <a:t>partagé</a:t>
            </a:r>
            <a:r>
              <a:rPr sz="1100" dirty="0">
                <a:solidFill>
                  <a:srgbClr val="B8CCEE"/>
                </a:solidFill>
              </a:rPr>
              <a:t> </a:t>
            </a:r>
            <a:r>
              <a:rPr sz="1100" dirty="0" err="1">
                <a:solidFill>
                  <a:srgbClr val="B8CCEE"/>
                </a:solidFill>
              </a:rPr>
              <a:t>remplace</a:t>
            </a:r>
            <a:r>
              <a:rPr sz="1100" dirty="0">
                <a:solidFill>
                  <a:srgbClr val="B8CCEE"/>
                </a:solidFill>
              </a:rPr>
              <a:t> les </a:t>
            </a:r>
            <a:r>
              <a:rPr sz="1100" dirty="0" err="1">
                <a:solidFill>
                  <a:srgbClr val="B8CCEE"/>
                </a:solidFill>
              </a:rPr>
              <a:t>échanges</a:t>
            </a:r>
            <a:r>
              <a:rPr sz="1100" dirty="0">
                <a:solidFill>
                  <a:srgbClr val="B8CCEE"/>
                </a:solidFill>
              </a:rPr>
              <a:t> </a:t>
            </a:r>
            <a:r>
              <a:rPr sz="1100" dirty="0" err="1">
                <a:solidFill>
                  <a:srgbClr val="B8CCEE"/>
                </a:solidFill>
              </a:rPr>
              <a:t>répétés</a:t>
            </a:r>
            <a:r>
              <a:rPr sz="1100" dirty="0">
                <a:solidFill>
                  <a:srgbClr val="B8CCEE"/>
                </a:solidFill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46725" y="2305050"/>
            <a:ext cx="4689475" cy="1314450"/>
          </a:xfrm>
          <a:prstGeom prst="rect">
            <a:avLst/>
          </a:prstGeom>
          <a:solidFill>
            <a:srgbClr val="183466">
              <a:alpha val="15000"/>
            </a:srgbClr>
          </a:solidFill>
          <a:ln>
            <a:solidFill>
              <a:srgbClr val="FFFFFF">
                <a:alpha val="1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18175" y="2476500"/>
            <a:ext cx="33280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3FF"/>
                </a:solidFill>
                <a:latin typeface="DM Sans"/>
              </a:rPr>
              <a:t>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4425" y="2476500"/>
            <a:ext cx="40238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F3FF"/>
                </a:solidFill>
                <a:latin typeface="Atkinson Hyperlegible"/>
              </a:rPr>
              <a:t>Éviter de redécider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4425" y="2781300"/>
            <a:ext cx="374967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B8CCEE"/>
                </a:solidFill>
              </a:rPr>
              <a:t>Des choses déjà </a:t>
            </a:r>
            <a:r>
              <a:rPr sz="1100" dirty="0" err="1">
                <a:solidFill>
                  <a:srgbClr val="B8CCEE"/>
                </a:solidFill>
              </a:rPr>
              <a:t>tranchées</a:t>
            </a:r>
            <a:r>
              <a:rPr sz="1100" dirty="0">
                <a:solidFill>
                  <a:srgbClr val="B8CCEE"/>
                </a:solidFill>
              </a:rPr>
              <a:t>. Réduit la </a:t>
            </a:r>
            <a:r>
              <a:rPr sz="1100" b="1" dirty="0" err="1">
                <a:solidFill>
                  <a:srgbClr val="EEF3FF"/>
                </a:solidFill>
              </a:rPr>
              <a:t>dette</a:t>
            </a:r>
            <a:r>
              <a:rPr sz="1100" b="1" dirty="0">
                <a:solidFill>
                  <a:srgbClr val="EEF3FF"/>
                </a:solidFill>
              </a:rPr>
              <a:t> de </a:t>
            </a:r>
            <a:r>
              <a:rPr sz="1100" b="1" dirty="0" err="1">
                <a:solidFill>
                  <a:srgbClr val="EEF3FF"/>
                </a:solidFill>
              </a:rPr>
              <a:t>gouvernance</a:t>
            </a:r>
            <a:r>
              <a:rPr sz="1100" dirty="0">
                <a:solidFill>
                  <a:srgbClr val="B8CCEE"/>
                </a:solidFill>
              </a:rPr>
              <a:t> et les </a:t>
            </a:r>
            <a:r>
              <a:rPr sz="1100" dirty="0" err="1">
                <a:solidFill>
                  <a:srgbClr val="B8CCEE"/>
                </a:solidFill>
              </a:rPr>
              <a:t>incohérences</a:t>
            </a:r>
            <a:r>
              <a:rPr sz="1100" dirty="0">
                <a:solidFill>
                  <a:srgbClr val="B8CCEE"/>
                </a:solidFill>
              </a:rPr>
              <a:t> qui en </a:t>
            </a:r>
            <a:r>
              <a:rPr sz="1100" dirty="0" err="1">
                <a:solidFill>
                  <a:srgbClr val="B8CCEE"/>
                </a:solidFill>
              </a:rPr>
              <a:t>découlent</a:t>
            </a:r>
            <a:r>
              <a:rPr sz="1100" dirty="0">
                <a:solidFill>
                  <a:srgbClr val="B8CCEE"/>
                </a:solidFill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714750"/>
            <a:ext cx="4689475" cy="1314450"/>
          </a:xfrm>
          <a:prstGeom prst="rect">
            <a:avLst/>
          </a:prstGeom>
          <a:solidFill>
            <a:srgbClr val="183466">
              <a:alpha val="15000"/>
            </a:srgbClr>
          </a:solidFill>
          <a:ln>
            <a:solidFill>
              <a:srgbClr val="FFFFFF">
                <a:alpha val="1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7250" y="3886200"/>
            <a:ext cx="33280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3FF"/>
                </a:solidFill>
                <a:latin typeface="DM Sans"/>
              </a:rPr>
              <a:t>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3500" y="3886200"/>
            <a:ext cx="40238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F3FF"/>
                </a:solidFill>
                <a:latin typeface="Atkinson Hyperlegible"/>
              </a:rPr>
              <a:t>Réduire les incohérences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3500" y="4191000"/>
            <a:ext cx="402387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B8CCEE"/>
                </a:solidFill>
              </a:rPr>
              <a:t>Dans </a:t>
            </a:r>
            <a:r>
              <a:rPr sz="1100" dirty="0" err="1">
                <a:solidFill>
                  <a:srgbClr val="B8CCEE"/>
                </a:solidFill>
              </a:rPr>
              <a:t>l'expérience</a:t>
            </a:r>
            <a:r>
              <a:rPr sz="1100" dirty="0">
                <a:solidFill>
                  <a:srgbClr val="B8CCEE"/>
                </a:solidFill>
              </a:rPr>
              <a:t> </a:t>
            </a:r>
            <a:r>
              <a:rPr sz="1100" dirty="0" err="1">
                <a:solidFill>
                  <a:srgbClr val="B8CCEE"/>
                </a:solidFill>
              </a:rPr>
              <a:t>utilisateur</a:t>
            </a:r>
            <a:r>
              <a:rPr sz="1100" dirty="0">
                <a:solidFill>
                  <a:srgbClr val="B8CCEE"/>
                </a:solidFill>
              </a:rPr>
              <a:t>, </a:t>
            </a:r>
            <a:r>
              <a:rPr sz="1100" dirty="0" err="1">
                <a:solidFill>
                  <a:srgbClr val="B8CCEE"/>
                </a:solidFill>
              </a:rPr>
              <a:t>même</a:t>
            </a:r>
            <a:r>
              <a:rPr sz="1100" dirty="0">
                <a:solidFill>
                  <a:srgbClr val="B8CCEE"/>
                </a:solidFill>
              </a:rPr>
              <a:t> </a:t>
            </a:r>
            <a:r>
              <a:rPr sz="1100" dirty="0" err="1">
                <a:solidFill>
                  <a:srgbClr val="B8CCEE"/>
                </a:solidFill>
              </a:rPr>
              <a:t>quand</a:t>
            </a:r>
            <a:r>
              <a:rPr sz="1100" dirty="0">
                <a:solidFill>
                  <a:srgbClr val="B8CCEE"/>
                </a:solidFill>
              </a:rPr>
              <a:t> les équipes </a:t>
            </a:r>
            <a:r>
              <a:rPr sz="1100" dirty="0" err="1">
                <a:solidFill>
                  <a:srgbClr val="B8CCEE"/>
                </a:solidFill>
              </a:rPr>
              <a:t>travaillent</a:t>
            </a:r>
            <a:r>
              <a:rPr lang="fr-CA" sz="1100" dirty="0">
                <a:solidFill>
                  <a:srgbClr val="B8CCEE"/>
                </a:solidFill>
              </a:rPr>
              <a:t> </a:t>
            </a:r>
            <a:r>
              <a:rPr sz="1100" dirty="0">
                <a:solidFill>
                  <a:srgbClr val="B8CCEE"/>
                </a:solidFill>
              </a:rPr>
              <a:t>en </a:t>
            </a:r>
            <a:r>
              <a:rPr sz="1100" b="1" dirty="0">
                <a:solidFill>
                  <a:srgbClr val="EEF3FF"/>
                </a:solidFill>
              </a:rPr>
              <a:t>silos</a:t>
            </a:r>
            <a:r>
              <a:rPr sz="1100" dirty="0">
                <a:solidFill>
                  <a:srgbClr val="B8CCEE"/>
                </a:solidFill>
              </a:rPr>
              <a:t> sans se </a:t>
            </a:r>
            <a:r>
              <a:rPr sz="1100" dirty="0" err="1">
                <a:solidFill>
                  <a:srgbClr val="B8CCEE"/>
                </a:solidFill>
              </a:rPr>
              <a:t>coordonner</a:t>
            </a:r>
            <a:r>
              <a:rPr sz="1100" dirty="0">
                <a:solidFill>
                  <a:srgbClr val="B8CCEE"/>
                </a:solidFill>
              </a:rPr>
              <a:t>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46725" y="3714750"/>
            <a:ext cx="4689475" cy="1314450"/>
          </a:xfrm>
          <a:prstGeom prst="rect">
            <a:avLst/>
          </a:prstGeom>
          <a:solidFill>
            <a:srgbClr val="183466">
              <a:alpha val="15000"/>
            </a:srgbClr>
          </a:solidFill>
          <a:ln>
            <a:solidFill>
              <a:srgbClr val="FFFFFF">
                <a:alpha val="1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18175" y="3886200"/>
            <a:ext cx="33280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3FF"/>
                </a:solidFill>
                <a:latin typeface="DM Sans"/>
              </a:rPr>
              <a:t>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4425" y="3886200"/>
            <a:ext cx="40238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F3FF"/>
                </a:solidFill>
                <a:latin typeface="Atkinson Hyperlegible"/>
              </a:rPr>
              <a:t>Accélérer la production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4425" y="4191000"/>
            <a:ext cx="402387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B8CCEE"/>
                </a:solidFill>
              </a:rPr>
              <a:t>Sans </a:t>
            </a:r>
            <a:r>
              <a:rPr sz="1100" dirty="0" err="1">
                <a:solidFill>
                  <a:srgbClr val="B8CCEE"/>
                </a:solidFill>
              </a:rPr>
              <a:t>sacrifier</a:t>
            </a:r>
            <a:r>
              <a:rPr sz="1100" dirty="0">
                <a:solidFill>
                  <a:srgbClr val="B8CCEE"/>
                </a:solidFill>
              </a:rPr>
              <a:t> la </a:t>
            </a:r>
            <a:r>
              <a:rPr sz="1100" dirty="0" err="1">
                <a:solidFill>
                  <a:srgbClr val="B8CCEE"/>
                </a:solidFill>
              </a:rPr>
              <a:t>qualité</a:t>
            </a:r>
            <a:r>
              <a:rPr sz="1100" dirty="0">
                <a:solidFill>
                  <a:srgbClr val="B8CCEE"/>
                </a:solidFill>
              </a:rPr>
              <a:t>. Les </a:t>
            </a:r>
            <a:r>
              <a:rPr sz="1100" dirty="0" err="1">
                <a:solidFill>
                  <a:srgbClr val="B8CCEE"/>
                </a:solidFill>
              </a:rPr>
              <a:t>décisions</a:t>
            </a:r>
            <a:r>
              <a:rPr sz="1100" dirty="0">
                <a:solidFill>
                  <a:srgbClr val="B8CCEE"/>
                </a:solidFill>
              </a:rPr>
              <a:t> de base sont déjà </a:t>
            </a:r>
            <a:r>
              <a:rPr sz="1100" dirty="0" err="1">
                <a:solidFill>
                  <a:srgbClr val="B8CCEE"/>
                </a:solidFill>
              </a:rPr>
              <a:t>posées</a:t>
            </a:r>
            <a:r>
              <a:rPr sz="1100" dirty="0">
                <a:solidFill>
                  <a:srgbClr val="B8CCEE"/>
                </a:solidFill>
              </a:rPr>
              <a:t> — </a:t>
            </a:r>
            <a:r>
              <a:rPr sz="1100" b="1" dirty="0">
                <a:solidFill>
                  <a:srgbClr val="EEF3FF"/>
                </a:solidFill>
              </a:rPr>
              <a:t>plus de temps à </a:t>
            </a:r>
            <a:r>
              <a:rPr sz="1100" b="1" dirty="0" err="1">
                <a:solidFill>
                  <a:srgbClr val="EEF3FF"/>
                </a:solidFill>
              </a:rPr>
              <a:t>créer</a:t>
            </a:r>
            <a:r>
              <a:rPr sz="1100" dirty="0">
                <a:solidFill>
                  <a:srgbClr val="B8CCEE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4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7625" cy="6858000"/>
          </a:xfrm>
          <a:prstGeom prst="rect">
            <a:avLst/>
          </a:prstGeom>
          <a:solidFill>
            <a:srgbClr val="14D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7700" y="2000250"/>
            <a:ext cx="5334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spc="300" dirty="0">
                <a:solidFill>
                  <a:srgbClr val="B8CCEE"/>
                </a:solidFill>
                <a:latin typeface="DM Sans"/>
              </a:rPr>
              <a:t>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2209800"/>
            <a:ext cx="5334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EEF3FF"/>
                </a:solidFill>
                <a:latin typeface="Atkinson Hyperlegible"/>
              </a:rPr>
              <a:t>De quoi est </a:t>
            </a:r>
            <a:r>
              <a:rPr sz="2800" b="1" dirty="0" err="1">
                <a:solidFill>
                  <a:srgbClr val="EEF3FF"/>
                </a:solidFill>
                <a:latin typeface="Atkinson Hyperlegible"/>
              </a:rPr>
              <a:t>composé</a:t>
            </a:r>
            <a:endParaRPr sz="2800" b="1" dirty="0">
              <a:solidFill>
                <a:srgbClr val="EEF3FF"/>
              </a:solidFill>
              <a:latin typeface="Atkinson Hyperlegible"/>
            </a:endParaRPr>
          </a:p>
          <a:p>
            <a:pPr algn="l"/>
            <a:r>
              <a:rPr sz="2800" b="1" dirty="0">
                <a:solidFill>
                  <a:srgbClr val="EEF3FF"/>
                </a:solidFill>
                <a:latin typeface="Atkinson Hyperlegible"/>
              </a:rPr>
              <a:t>un système de design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7700" y="3182778"/>
            <a:ext cx="5334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B8CCEE"/>
                </a:solidFill>
              </a:rPr>
              <a:t>Les composants sont la </a:t>
            </a:r>
            <a:r>
              <a:rPr sz="1300" dirty="0" err="1">
                <a:solidFill>
                  <a:srgbClr val="B8CCEE"/>
                </a:solidFill>
              </a:rPr>
              <a:t>partie</a:t>
            </a:r>
            <a:r>
              <a:rPr sz="1300" dirty="0">
                <a:solidFill>
                  <a:srgbClr val="B8CCEE"/>
                </a:solidFill>
              </a:rPr>
              <a:t> la plus </a:t>
            </a:r>
            <a:r>
              <a:rPr sz="1300" b="1" dirty="0">
                <a:solidFill>
                  <a:srgbClr val="EEF3FF"/>
                </a:solidFill>
              </a:rPr>
              <a:t>visible</a:t>
            </a:r>
            <a:r>
              <a:rPr sz="1300" dirty="0">
                <a:solidFill>
                  <a:srgbClr val="B8CCEE"/>
                </a:solidFill>
              </a:rPr>
              <a:t> — </a:t>
            </a:r>
            <a:r>
              <a:rPr sz="1300" dirty="0" err="1">
                <a:solidFill>
                  <a:srgbClr val="B8CCEE"/>
                </a:solidFill>
              </a:rPr>
              <a:t>mais</a:t>
            </a:r>
            <a:r>
              <a:rPr sz="1300" dirty="0">
                <a:solidFill>
                  <a:srgbClr val="B8CCEE"/>
                </a:solidFill>
              </a:rPr>
              <a:t> </a:t>
            </a:r>
            <a:r>
              <a:rPr sz="1300" dirty="0" err="1">
                <a:solidFill>
                  <a:srgbClr val="B8CCEE"/>
                </a:solidFill>
              </a:rPr>
              <a:t>ils</a:t>
            </a:r>
            <a:r>
              <a:rPr sz="1300" dirty="0">
                <a:solidFill>
                  <a:srgbClr val="B8CCEE"/>
                </a:solidFill>
              </a:rPr>
              <a:t> ne sont</a:t>
            </a:r>
            <a:r>
              <a:rPr lang="fr-CA" sz="1300" dirty="0">
                <a:solidFill>
                  <a:srgbClr val="B8CCEE"/>
                </a:solidFill>
              </a:rPr>
              <a:t> </a:t>
            </a:r>
            <a:r>
              <a:rPr sz="1300" dirty="0">
                <a:solidFill>
                  <a:srgbClr val="B8CCEE"/>
                </a:solidFill>
              </a:rPr>
              <a:t>pas le </a:t>
            </a:r>
            <a:r>
              <a:rPr sz="1300" dirty="0" err="1">
                <a:solidFill>
                  <a:srgbClr val="B8CCEE"/>
                </a:solidFill>
              </a:rPr>
              <a:t>cœur</a:t>
            </a:r>
            <a:r>
              <a:rPr sz="1300" dirty="0">
                <a:solidFill>
                  <a:srgbClr val="B8CCEE"/>
                </a:solidFill>
              </a:rPr>
              <a:t>. Le </a:t>
            </a:r>
            <a:r>
              <a:rPr sz="1300" dirty="0" err="1">
                <a:solidFill>
                  <a:srgbClr val="B8CCEE"/>
                </a:solidFill>
              </a:rPr>
              <a:t>cœur</a:t>
            </a:r>
            <a:r>
              <a:rPr sz="1300" dirty="0">
                <a:solidFill>
                  <a:srgbClr val="B8CCEE"/>
                </a:solidFill>
              </a:rPr>
              <a:t>, </a:t>
            </a:r>
            <a:r>
              <a:rPr sz="1300" dirty="0" err="1">
                <a:solidFill>
                  <a:srgbClr val="B8CCEE"/>
                </a:solidFill>
              </a:rPr>
              <a:t>ce</a:t>
            </a:r>
            <a:r>
              <a:rPr sz="1300" dirty="0">
                <a:solidFill>
                  <a:srgbClr val="B8CCEE"/>
                </a:solidFill>
              </a:rPr>
              <a:t> sont les </a:t>
            </a:r>
            <a:r>
              <a:rPr sz="1300" b="1" dirty="0" err="1">
                <a:solidFill>
                  <a:srgbClr val="ED6B41"/>
                </a:solidFill>
              </a:rPr>
              <a:t>décisions</a:t>
            </a:r>
            <a:r>
              <a:rPr sz="1300" b="1" dirty="0">
                <a:solidFill>
                  <a:srgbClr val="ED6B41"/>
                </a:solidFill>
              </a:rPr>
              <a:t> et règles</a:t>
            </a:r>
            <a:r>
              <a:rPr sz="1300" b="1" dirty="0">
                <a:solidFill>
                  <a:srgbClr val="B8CCEE"/>
                </a:solidFill>
              </a:rPr>
              <a:t> </a:t>
            </a:r>
            <a:r>
              <a:rPr sz="1300" dirty="0" err="1">
                <a:solidFill>
                  <a:srgbClr val="B8CCEE"/>
                </a:solidFill>
              </a:rPr>
              <a:t>qu'ils</a:t>
            </a:r>
            <a:r>
              <a:rPr sz="1300" dirty="0">
                <a:solidFill>
                  <a:srgbClr val="B8CCEE"/>
                </a:solidFill>
              </a:rPr>
              <a:t> </a:t>
            </a:r>
            <a:r>
              <a:rPr sz="1300" dirty="0" err="1">
                <a:solidFill>
                  <a:srgbClr val="B8CCEE"/>
                </a:solidFill>
              </a:rPr>
              <a:t>incarnent</a:t>
            </a:r>
            <a:r>
              <a:rPr sz="1300" dirty="0">
                <a:solidFill>
                  <a:srgbClr val="B8CCEE"/>
                </a:solidFill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8700" y="3754278"/>
            <a:ext cx="38100" cy="647700"/>
          </a:xfrm>
          <a:prstGeom prst="rect">
            <a:avLst/>
          </a:prstGeom>
          <a:solidFill>
            <a:srgbClr val="ED6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1100" y="3797924"/>
            <a:ext cx="421005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EEF3FF"/>
                </a:solidFill>
              </a:rPr>
              <a:t>Un bouton </a:t>
            </a:r>
            <a:r>
              <a:rPr sz="1100" b="0" i="1" dirty="0" err="1">
                <a:solidFill>
                  <a:srgbClr val="EEF3FF"/>
                </a:solidFill>
              </a:rPr>
              <a:t>primaire</a:t>
            </a:r>
            <a:r>
              <a:rPr sz="1100" b="0" i="1" dirty="0">
                <a:solidFill>
                  <a:srgbClr val="EEF3FF"/>
                </a:solidFill>
              </a:rPr>
              <a:t> n'est pas </a:t>
            </a:r>
            <a:r>
              <a:rPr sz="1100" b="0" i="1" dirty="0" err="1">
                <a:solidFill>
                  <a:srgbClr val="EEF3FF"/>
                </a:solidFill>
              </a:rPr>
              <a:t>qu'une</a:t>
            </a:r>
            <a:r>
              <a:rPr sz="1100" b="0" i="1" dirty="0">
                <a:solidFill>
                  <a:srgbClr val="EEF3FF"/>
                </a:solidFill>
              </a:rPr>
              <a:t> </a:t>
            </a:r>
            <a:r>
              <a:rPr sz="1100" b="0" i="1" dirty="0" err="1">
                <a:solidFill>
                  <a:srgbClr val="EEF3FF"/>
                </a:solidFill>
              </a:rPr>
              <a:t>forme</a:t>
            </a:r>
            <a:r>
              <a:rPr sz="1100" b="0" i="1" dirty="0">
                <a:solidFill>
                  <a:srgbClr val="EEF3FF"/>
                </a:solidFill>
              </a:rPr>
              <a:t> </a:t>
            </a:r>
            <a:r>
              <a:rPr sz="1100" b="0" i="1" dirty="0" err="1">
                <a:solidFill>
                  <a:srgbClr val="EEF3FF"/>
                </a:solidFill>
              </a:rPr>
              <a:t>bleue</a:t>
            </a:r>
            <a:r>
              <a:rPr sz="1100" b="0" i="1" dirty="0">
                <a:solidFill>
                  <a:srgbClr val="EEF3FF"/>
                </a:solidFill>
              </a:rPr>
              <a:t> — </a:t>
            </a:r>
            <a:r>
              <a:rPr sz="1100" b="0" i="1" dirty="0" err="1">
                <a:solidFill>
                  <a:srgbClr val="EEF3FF"/>
                </a:solidFill>
              </a:rPr>
              <a:t>c'est</a:t>
            </a:r>
            <a:r>
              <a:rPr sz="1100" b="0" i="1" dirty="0">
                <a:solidFill>
                  <a:srgbClr val="EEF3FF"/>
                </a:solidFill>
              </a:rPr>
              <a:t> </a:t>
            </a:r>
            <a:r>
              <a:rPr sz="1100" b="0" i="1" dirty="0" err="1">
                <a:solidFill>
                  <a:srgbClr val="EEF3FF"/>
                </a:solidFill>
              </a:rPr>
              <a:t>l'expression</a:t>
            </a:r>
            <a:r>
              <a:rPr sz="1100" b="0" i="1" dirty="0">
                <a:solidFill>
                  <a:srgbClr val="EEF3FF"/>
                </a:solidFill>
              </a:rPr>
              <a:t> </a:t>
            </a:r>
            <a:r>
              <a:rPr sz="1100" b="0" i="1" dirty="0" err="1">
                <a:solidFill>
                  <a:srgbClr val="EEF3FF"/>
                </a:solidFill>
              </a:rPr>
              <a:t>d'une</a:t>
            </a:r>
            <a:r>
              <a:rPr sz="1100" b="0" i="1" dirty="0">
                <a:solidFill>
                  <a:srgbClr val="EEF3FF"/>
                </a:solidFill>
              </a:rPr>
              <a:t> </a:t>
            </a:r>
            <a:r>
              <a:rPr sz="1100" b="0" i="1" dirty="0" err="1">
                <a:solidFill>
                  <a:srgbClr val="EEF3FF"/>
                </a:solidFill>
              </a:rPr>
              <a:t>décision</a:t>
            </a:r>
            <a:r>
              <a:rPr sz="1100" b="0" i="1" dirty="0">
                <a:solidFill>
                  <a:srgbClr val="EEF3FF"/>
                </a:solidFill>
              </a:rPr>
              <a:t> sur la</a:t>
            </a:r>
            <a:r>
              <a:rPr lang="fr-CA" sz="1100" b="0" i="1" dirty="0">
                <a:solidFill>
                  <a:srgbClr val="EEF3FF"/>
                </a:solidFill>
              </a:rPr>
              <a:t> </a:t>
            </a:r>
            <a:r>
              <a:rPr sz="1100" b="0" i="1" dirty="0" err="1">
                <a:solidFill>
                  <a:srgbClr val="EEF3FF"/>
                </a:solidFill>
              </a:rPr>
              <a:t>hiérarchie</a:t>
            </a:r>
            <a:r>
              <a:rPr sz="1100" b="0" i="1" dirty="0">
                <a:solidFill>
                  <a:srgbClr val="EEF3FF"/>
                </a:solidFill>
              </a:rPr>
              <a:t> des actions.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86500" y="0"/>
            <a:ext cx="59055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591300" y="1416558"/>
            <a:ext cx="5295900" cy="40248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7625" cy="6858000"/>
          </a:xfrm>
          <a:prstGeom prst="rect">
            <a:avLst/>
          </a:prstGeom>
          <a:solidFill>
            <a:srgbClr val="14D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95300"/>
            <a:ext cx="666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CEE"/>
                </a:solidFill>
                <a:latin typeface="DM Sans"/>
              </a:rPr>
              <a:t>DÉMYSTIFICATION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04850"/>
            <a:ext cx="108204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EF3FF"/>
                </a:solidFill>
                <a:latin typeface="Atkinson Hyperlegible"/>
              </a:rPr>
              <a:t>Un système de design n'est pas…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52550"/>
            <a:ext cx="10820400" cy="323850"/>
          </a:xfrm>
          <a:prstGeom prst="rect">
            <a:avLst/>
          </a:prstGeom>
          <a:solidFill>
            <a:schemeClr val="tx1">
              <a:alpha val="15000"/>
            </a:schemeClr>
          </a:solidFill>
          <a:ln w="12700">
            <a:solidFill>
              <a:schemeClr val="bg1">
                <a:alpha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38200" y="1390650"/>
            <a:ext cx="54102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ED6B41"/>
                </a:solidFill>
              </a:rPr>
              <a:t>CE QU'ON CROIT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48400" y="1390650"/>
            <a:ext cx="54102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4D9C8"/>
                </a:solidFill>
              </a:rPr>
              <a:t>CE QUE C'EST VRAIMENT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676400"/>
            <a:ext cx="5410200" cy="971550"/>
          </a:xfrm>
          <a:prstGeom prst="rect">
            <a:avLst/>
          </a:prstGeom>
          <a:solidFill>
            <a:srgbClr val="FF5555">
              <a:alpha val="21000"/>
            </a:srgbClr>
          </a:solidFill>
          <a:ln w="12700">
            <a:solidFill>
              <a:schemeClr val="bg1">
                <a:alpha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96000" y="1676400"/>
            <a:ext cx="5410200" cy="971550"/>
          </a:xfrm>
          <a:prstGeom prst="rect">
            <a:avLst/>
          </a:prstGeom>
          <a:solidFill>
            <a:schemeClr val="tx1">
              <a:alpha val="15000"/>
            </a:schemeClr>
          </a:solidFill>
          <a:ln w="12700">
            <a:solidFill>
              <a:schemeClr val="bg1">
                <a:alpha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9150" y="1954371"/>
            <a:ext cx="2667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 dirty="0">
                <a:solidFill>
                  <a:srgbClr val="EEF3FF"/>
                </a:solidFill>
                <a:latin typeface="DM Sans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2050" y="1954371"/>
            <a:ext cx="4800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ED6B41"/>
                </a:solidFill>
                <a:latin typeface="Atkinson Hyperlegible"/>
              </a:rPr>
              <a:t>Guide de style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2050" y="2259171"/>
            <a:ext cx="4800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chemeClr val="bg1">
                    <a:alpha val="70000"/>
                  </a:schemeClr>
                </a:solidFill>
              </a:rPr>
              <a:t>Conventions </a:t>
            </a:r>
            <a:r>
              <a:rPr sz="1000" b="0" i="0" dirty="0" err="1">
                <a:solidFill>
                  <a:schemeClr val="bg1">
                    <a:alpha val="70000"/>
                  </a:schemeClr>
                </a:solidFill>
              </a:rPr>
              <a:t>visuelles</a:t>
            </a:r>
            <a:r>
              <a:rPr sz="1000" b="0" i="0" dirty="0">
                <a:solidFill>
                  <a:schemeClr val="bg1">
                    <a:alpha val="70000"/>
                  </a:schemeClr>
                </a:solidFill>
              </a:rPr>
              <a:t> ou </a:t>
            </a:r>
            <a:r>
              <a:rPr sz="1000" b="0" i="0" dirty="0" err="1">
                <a:solidFill>
                  <a:schemeClr val="bg1">
                    <a:alpha val="70000"/>
                  </a:schemeClr>
                </a:solidFill>
              </a:rPr>
              <a:t>éditoriales</a:t>
            </a:r>
            <a:endParaRPr sz="1000" b="0" i="0" dirty="0">
              <a:solidFill>
                <a:schemeClr val="bg1">
                  <a:alpha val="70000"/>
                </a:schemeClr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248400" y="1885951"/>
            <a:ext cx="51054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D9C8"/>
                </a:solidFill>
                <a:latin typeface="Atkinson Hyperlegible"/>
              </a:rPr>
              <a:t>Artefact partiel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8400" y="2190751"/>
            <a:ext cx="51054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chemeClr val="bg1"/>
                </a:solidFill>
                <a:latin typeface="DM Sans"/>
              </a:rPr>
              <a:t>Utile, mais ne couvre pas les règles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647950"/>
            <a:ext cx="5410200" cy="971550"/>
          </a:xfrm>
          <a:prstGeom prst="rect">
            <a:avLst/>
          </a:prstGeom>
          <a:solidFill>
            <a:srgbClr val="FF5555">
              <a:alpha val="21000"/>
            </a:srgbClr>
          </a:solidFill>
          <a:ln w="12700">
            <a:solidFill>
              <a:schemeClr val="bg1">
                <a:alpha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96000" y="2647950"/>
            <a:ext cx="5410200" cy="971550"/>
          </a:xfrm>
          <a:prstGeom prst="rect">
            <a:avLst/>
          </a:prstGeom>
          <a:solidFill>
            <a:schemeClr val="tx1">
              <a:alpha val="15000"/>
            </a:schemeClr>
          </a:solidFill>
          <a:ln w="12700">
            <a:solidFill>
              <a:schemeClr val="bg1">
                <a:alpha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9150" y="2925921"/>
            <a:ext cx="2667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EF3FF"/>
                </a:solidFill>
                <a:latin typeface="DM Sans"/>
              </a:rPr>
              <a:t>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2050" y="2925921"/>
            <a:ext cx="4800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D6B41"/>
                </a:solidFill>
                <a:latin typeface="Atkinson Hyperlegible"/>
              </a:rPr>
              <a:t>Charte graphique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2050" y="3230721"/>
            <a:ext cx="4800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chemeClr val="bg1">
                    <a:alpha val="70000"/>
                  </a:schemeClr>
                </a:solidFill>
              </a:rPr>
              <a:t>Identité visuelle, logo, couleurs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8400" y="2857501"/>
            <a:ext cx="51054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D9C8"/>
                </a:solidFill>
                <a:latin typeface="Atkinson Hyperlegible"/>
              </a:rPr>
              <a:t>Intrant, pas le système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8400" y="3162301"/>
            <a:ext cx="51054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chemeClr val="bg1"/>
                </a:solidFill>
                <a:latin typeface="DM Sans"/>
              </a:rPr>
              <a:t>Alimente les fondations, mais ne les remplace pas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19500"/>
            <a:ext cx="5410200" cy="971550"/>
          </a:xfrm>
          <a:prstGeom prst="rect">
            <a:avLst/>
          </a:prstGeom>
          <a:solidFill>
            <a:srgbClr val="FF5555">
              <a:alpha val="21000"/>
            </a:srgbClr>
          </a:solidFill>
          <a:ln w="12700">
            <a:solidFill>
              <a:schemeClr val="bg1">
                <a:alpha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096000" y="3619500"/>
            <a:ext cx="5410200" cy="971550"/>
          </a:xfrm>
          <a:prstGeom prst="rect">
            <a:avLst/>
          </a:prstGeom>
          <a:solidFill>
            <a:schemeClr val="tx1">
              <a:alpha val="15000"/>
            </a:schemeClr>
          </a:solidFill>
          <a:ln w="12700">
            <a:solidFill>
              <a:schemeClr val="bg1">
                <a:alpha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150" y="3897471"/>
            <a:ext cx="2667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EF3FF"/>
                </a:solidFill>
                <a:latin typeface="DM Sans"/>
              </a:rPr>
              <a:t>🖥️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2050" y="3897471"/>
            <a:ext cx="4800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D6B41"/>
                </a:solidFill>
                <a:latin typeface="Atkinson Hyperlegible"/>
              </a:rPr>
              <a:t>Fichier Figma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2050" y="4202271"/>
            <a:ext cx="4800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chemeClr val="bg1">
                    <a:alpha val="70000"/>
                  </a:schemeClr>
                </a:solidFill>
              </a:rPr>
              <a:t>Outil de travail, même très bien organisé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3829051"/>
            <a:ext cx="51054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D9C8"/>
                </a:solidFill>
                <a:latin typeface="Atkinson Hyperlegible"/>
              </a:rPr>
              <a:t>Le contenant, pas le contenu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4133851"/>
            <a:ext cx="51054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chemeClr val="bg1"/>
                </a:solidFill>
                <a:latin typeface="DM Sans"/>
              </a:rPr>
              <a:t>Peut héberger des éléments du système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591050"/>
            <a:ext cx="5410200" cy="971550"/>
          </a:xfrm>
          <a:prstGeom prst="rect">
            <a:avLst/>
          </a:prstGeom>
          <a:solidFill>
            <a:srgbClr val="FF5555">
              <a:alpha val="21000"/>
            </a:srgbClr>
          </a:solidFill>
          <a:ln w="12700">
            <a:solidFill>
              <a:schemeClr val="bg1">
                <a:alpha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096000" y="4591050"/>
            <a:ext cx="5410200" cy="971550"/>
          </a:xfrm>
          <a:prstGeom prst="rect">
            <a:avLst/>
          </a:prstGeom>
          <a:solidFill>
            <a:schemeClr val="tx1">
              <a:alpha val="15000"/>
            </a:schemeClr>
          </a:solidFill>
          <a:ln w="12700">
            <a:solidFill>
              <a:schemeClr val="bg1">
                <a:alpha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9150" y="4869021"/>
            <a:ext cx="2667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EF3FF"/>
                </a:solidFill>
                <a:latin typeface="DM Sans"/>
              </a:rPr>
              <a:t>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2050" y="4869021"/>
            <a:ext cx="4800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D6B41"/>
                </a:solidFill>
                <a:latin typeface="Atkinson Hyperlegible"/>
              </a:rPr>
              <a:t>Bibliothèque de composants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2050" y="5173821"/>
            <a:ext cx="4800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chemeClr val="bg1">
                    <a:alpha val="70000"/>
                  </a:schemeClr>
                </a:solidFill>
              </a:rPr>
              <a:t>Ressource visuelle réutilisable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8400" y="4800601"/>
            <a:ext cx="51054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D9C8"/>
                </a:solidFill>
                <a:latin typeface="Atkinson Hyperlegible"/>
              </a:rPr>
              <a:t>Une partie du système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8400" y="5105401"/>
            <a:ext cx="51054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chemeClr val="bg1"/>
                </a:solidFill>
                <a:latin typeface="DM Sans"/>
              </a:rPr>
              <a:t>Sans règles d'usage, c'est une boîte sans mode d'emploi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2"/>
            </a:gs>
            <a:gs pos="100000">
              <a:schemeClr val="tx1"/>
            </a:gs>
            <a:gs pos="21000">
              <a:srgbClr val="183466"/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7625" cy="6858000"/>
          </a:xfrm>
          <a:prstGeom prst="rect">
            <a:avLst/>
          </a:prstGeom>
          <a:solidFill>
            <a:srgbClr val="14D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7700" y="1534815"/>
            <a:ext cx="70485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spc="300" dirty="0">
                <a:solidFill>
                  <a:srgbClr val="B8CCEE"/>
                </a:solidFill>
                <a:latin typeface="DM Sans"/>
              </a:rPr>
              <a:t>CONTEXTE HISTORIQUE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1744365"/>
            <a:ext cx="704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F3FF"/>
                </a:solidFill>
                <a:latin typeface="Atkinson Hyperlegible"/>
              </a:rPr>
              <a:t>Le système était fait</a:t>
            </a:r>
          </a:p>
          <a:p>
            <a:pPr algn="l"/>
            <a:r>
              <a:rPr sz="3200" b="1">
                <a:solidFill>
                  <a:srgbClr val="EEF3FF"/>
                </a:solidFill>
                <a:latin typeface="Atkinson Hyperlegible"/>
              </a:rPr>
              <a:t>pour des </a:t>
            </a:r>
            <a:r>
              <a:rPr sz="3200" b="1">
                <a:solidFill>
                  <a:srgbClr val="14D9C8"/>
                </a:solidFill>
                <a:latin typeface="Atkinson Hyperlegible"/>
              </a:rPr>
              <a:t>humains</a:t>
            </a:r>
            <a:r>
              <a:rPr sz="3200" b="1">
                <a:solidFill>
                  <a:srgbClr val="EEF3FF"/>
                </a:solidFill>
                <a:latin typeface="Atkinson Hyperlegible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7700" y="2894657"/>
            <a:ext cx="70485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chemeClr val="bg1">
                    <a:alpha val="80000"/>
                  </a:schemeClr>
                </a:solidFill>
              </a:rPr>
              <a:t>Les </a:t>
            </a:r>
            <a:r>
              <a:rPr sz="1300" dirty="0" err="1">
                <a:solidFill>
                  <a:schemeClr val="bg1">
                    <a:alpha val="80000"/>
                  </a:schemeClr>
                </a:solidFill>
              </a:rPr>
              <a:t>humains</a:t>
            </a:r>
            <a:r>
              <a:rPr sz="13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sz="1300" dirty="0" err="1">
                <a:solidFill>
                  <a:schemeClr val="bg1">
                    <a:alpha val="80000"/>
                  </a:schemeClr>
                </a:solidFill>
              </a:rPr>
              <a:t>interprètent</a:t>
            </a:r>
            <a:r>
              <a:rPr sz="1300" dirty="0">
                <a:solidFill>
                  <a:schemeClr val="bg1">
                    <a:alpha val="80000"/>
                  </a:schemeClr>
                </a:solidFill>
              </a:rPr>
              <a:t> une </a:t>
            </a:r>
            <a:r>
              <a:rPr sz="1300" dirty="0" err="1">
                <a:solidFill>
                  <a:schemeClr val="bg1">
                    <a:alpha val="80000"/>
                  </a:schemeClr>
                </a:solidFill>
              </a:rPr>
              <a:t>règle</a:t>
            </a:r>
            <a:r>
              <a:rPr sz="13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sz="1300" dirty="0" err="1">
                <a:solidFill>
                  <a:schemeClr val="bg1">
                    <a:alpha val="80000"/>
                  </a:schemeClr>
                </a:solidFill>
              </a:rPr>
              <a:t>floue</a:t>
            </a:r>
            <a:r>
              <a:rPr sz="1300" dirty="0">
                <a:solidFill>
                  <a:schemeClr val="bg1">
                    <a:alpha val="80000"/>
                  </a:schemeClr>
                </a:solidFill>
              </a:rPr>
              <a:t>, </a:t>
            </a:r>
            <a:r>
              <a:rPr sz="1300" dirty="0" err="1">
                <a:solidFill>
                  <a:schemeClr val="bg1">
                    <a:alpha val="80000"/>
                  </a:schemeClr>
                </a:solidFill>
              </a:rPr>
              <a:t>adaptent</a:t>
            </a:r>
            <a:r>
              <a:rPr sz="1300" dirty="0">
                <a:solidFill>
                  <a:schemeClr val="bg1">
                    <a:alpha val="80000"/>
                  </a:schemeClr>
                </a:solidFill>
              </a:rPr>
              <a:t> un </a:t>
            </a:r>
            <a:r>
              <a:rPr sz="1300" dirty="0" err="1">
                <a:solidFill>
                  <a:schemeClr val="bg1">
                    <a:alpha val="80000"/>
                  </a:schemeClr>
                </a:solidFill>
              </a:rPr>
              <a:t>composant</a:t>
            </a:r>
            <a:r>
              <a:rPr sz="1300" dirty="0">
                <a:solidFill>
                  <a:schemeClr val="bg1">
                    <a:alpha val="80000"/>
                  </a:schemeClr>
                </a:solidFill>
              </a:rPr>
              <a:t> à un </a:t>
            </a:r>
            <a:r>
              <a:rPr sz="1300" dirty="0" err="1">
                <a:solidFill>
                  <a:schemeClr val="bg1">
                    <a:alpha val="80000"/>
                  </a:schemeClr>
                </a:solidFill>
              </a:rPr>
              <a:t>contexte</a:t>
            </a:r>
            <a:r>
              <a:rPr sz="1300" dirty="0">
                <a:solidFill>
                  <a:schemeClr val="bg1">
                    <a:alpha val="80000"/>
                  </a:schemeClr>
                </a:solidFill>
              </a:rPr>
              <a:t> non</a:t>
            </a:r>
            <a:r>
              <a:rPr lang="fr-CA" sz="13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sz="1300" dirty="0" err="1">
                <a:solidFill>
                  <a:schemeClr val="bg1">
                    <a:alpha val="80000"/>
                  </a:schemeClr>
                </a:solidFill>
              </a:rPr>
              <a:t>prévu</a:t>
            </a:r>
            <a:r>
              <a:rPr sz="1300" dirty="0">
                <a:solidFill>
                  <a:schemeClr val="bg1">
                    <a:alpha val="80000"/>
                  </a:schemeClr>
                </a:solidFill>
              </a:rPr>
              <a:t>, </a:t>
            </a:r>
            <a:br>
              <a:rPr lang="fr-CA" sz="1300" dirty="0">
                <a:solidFill>
                  <a:schemeClr val="bg1">
                    <a:alpha val="80000"/>
                  </a:schemeClr>
                </a:solidFill>
              </a:rPr>
            </a:br>
            <a:r>
              <a:rPr sz="1300" dirty="0">
                <a:solidFill>
                  <a:schemeClr val="bg1">
                    <a:alpha val="80000"/>
                  </a:schemeClr>
                </a:solidFill>
              </a:rPr>
              <a:t>et </a:t>
            </a:r>
            <a:r>
              <a:rPr sz="1300" dirty="0" err="1">
                <a:solidFill>
                  <a:schemeClr val="bg1">
                    <a:alpha val="80000"/>
                  </a:schemeClr>
                </a:solidFill>
              </a:rPr>
              <a:t>devinent</a:t>
            </a:r>
            <a:r>
              <a:rPr sz="13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sz="1300" dirty="0" err="1">
                <a:solidFill>
                  <a:schemeClr val="bg1">
                    <a:alpha val="80000"/>
                  </a:schemeClr>
                </a:solidFill>
              </a:rPr>
              <a:t>l'intention</a:t>
            </a:r>
            <a:r>
              <a:rPr sz="1300" dirty="0">
                <a:solidFill>
                  <a:schemeClr val="bg1">
                    <a:alpha val="80000"/>
                  </a:schemeClr>
                </a:solidFill>
              </a:rPr>
              <a:t> derrière un </a:t>
            </a:r>
            <a:r>
              <a:rPr sz="1300" dirty="0" err="1">
                <a:solidFill>
                  <a:schemeClr val="bg1">
                    <a:alpha val="80000"/>
                  </a:schemeClr>
                </a:solidFill>
              </a:rPr>
              <a:t>exemple</a:t>
            </a:r>
            <a:r>
              <a:rPr sz="1300" dirty="0">
                <a:solidFill>
                  <a:schemeClr val="bg1">
                    <a:alpha val="80000"/>
                  </a:schemeClr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7700" y="3466157"/>
            <a:ext cx="70485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>
                <a:solidFill>
                  <a:schemeClr val="bg1">
                    <a:alpha val="80000"/>
                  </a:schemeClr>
                </a:solidFill>
              </a:rPr>
              <a:t>Les systèmes classiques </a:t>
            </a:r>
            <a:r>
              <a:rPr sz="1200" dirty="0" err="1">
                <a:solidFill>
                  <a:schemeClr val="bg1">
                    <a:alpha val="80000"/>
                  </a:schemeClr>
                </a:solidFill>
              </a:rPr>
              <a:t>pouvaient</a:t>
            </a:r>
            <a:r>
              <a:rPr sz="1200" dirty="0">
                <a:solidFill>
                  <a:schemeClr val="bg1">
                    <a:alpha val="80000"/>
                  </a:schemeClr>
                </a:solidFill>
              </a:rPr>
              <a:t> se</a:t>
            </a:r>
            <a:r>
              <a:rPr lang="fr-CA" sz="12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sz="1200" dirty="0" err="1">
                <a:solidFill>
                  <a:schemeClr val="bg1">
                    <a:alpha val="80000"/>
                  </a:schemeClr>
                </a:solidFill>
              </a:rPr>
              <a:t>permettre</a:t>
            </a:r>
            <a:r>
              <a:rPr sz="1200" dirty="0">
                <a:solidFill>
                  <a:schemeClr val="bg1">
                    <a:alpha val="80000"/>
                  </a:schemeClr>
                </a:solidFill>
              </a:rPr>
              <a:t> d'être </a:t>
            </a:r>
            <a:r>
              <a:rPr sz="1200" dirty="0" err="1">
                <a:solidFill>
                  <a:schemeClr val="bg1">
                    <a:alpha val="80000"/>
                  </a:schemeClr>
                </a:solidFill>
              </a:rPr>
              <a:t>partiellement</a:t>
            </a:r>
            <a:r>
              <a:rPr sz="12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sz="1200" b="1" dirty="0" err="1">
                <a:solidFill>
                  <a:schemeClr val="bg1"/>
                </a:solidFill>
              </a:rPr>
              <a:t>implicites</a:t>
            </a:r>
            <a:r>
              <a:rPr sz="1200" dirty="0">
                <a:solidFill>
                  <a:schemeClr val="bg1">
                    <a:alpha val="80000"/>
                  </a:schemeClr>
                </a:solidFill>
              </a:rPr>
              <a:t>. Les</a:t>
            </a:r>
            <a:r>
              <a:rPr lang="fr-CA" sz="12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sz="1200" dirty="0" err="1">
                <a:solidFill>
                  <a:schemeClr val="bg1">
                    <a:alpha val="80000"/>
                  </a:schemeClr>
                </a:solidFill>
              </a:rPr>
              <a:t>humains</a:t>
            </a:r>
            <a:r>
              <a:rPr sz="1200" dirty="0">
                <a:solidFill>
                  <a:schemeClr val="bg1">
                    <a:alpha val="80000"/>
                  </a:schemeClr>
                </a:solidFill>
              </a:rPr>
              <a:t> </a:t>
            </a:r>
            <a:br>
              <a:rPr lang="fr-CA" sz="1200" dirty="0">
                <a:solidFill>
                  <a:schemeClr val="bg1">
                    <a:alpha val="80000"/>
                  </a:schemeClr>
                </a:solidFill>
              </a:rPr>
            </a:br>
            <a:r>
              <a:rPr sz="1200" dirty="0" err="1">
                <a:solidFill>
                  <a:schemeClr val="bg1">
                    <a:alpha val="80000"/>
                  </a:schemeClr>
                </a:solidFill>
              </a:rPr>
              <a:t>comblaient</a:t>
            </a:r>
            <a:r>
              <a:rPr sz="1200" dirty="0">
                <a:solidFill>
                  <a:schemeClr val="bg1">
                    <a:alpha val="80000"/>
                  </a:schemeClr>
                </a:solidFill>
              </a:rPr>
              <a:t> les lacunes.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7700" y="4327872"/>
            <a:ext cx="7048500" cy="323850"/>
          </a:xfrm>
          <a:prstGeom prst="rect">
            <a:avLst/>
          </a:prstGeom>
          <a:solidFill>
            <a:srgbClr val="3421C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2000" y="4399607"/>
            <a:ext cx="68199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chemeClr val="bg1"/>
                </a:solidFill>
              </a:rPr>
              <a:t>🧠  </a:t>
            </a:r>
            <a:r>
              <a:rPr sz="1100" b="0" i="0" dirty="0" err="1">
                <a:solidFill>
                  <a:schemeClr val="bg1"/>
                </a:solidFill>
              </a:rPr>
              <a:t>Interprètent</a:t>
            </a:r>
            <a:r>
              <a:rPr sz="1100" b="0" i="0" dirty="0">
                <a:solidFill>
                  <a:schemeClr val="bg1"/>
                </a:solidFill>
              </a:rPr>
              <a:t> les règles </a:t>
            </a:r>
            <a:r>
              <a:rPr sz="1100" b="0" i="0" dirty="0" err="1">
                <a:solidFill>
                  <a:schemeClr val="bg1"/>
                </a:solidFill>
              </a:rPr>
              <a:t>floues</a:t>
            </a:r>
            <a:endParaRPr sz="1100" b="0" i="0" dirty="0">
              <a:solidFill>
                <a:schemeClr val="bg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47700" y="4689822"/>
            <a:ext cx="7048500" cy="323850"/>
          </a:xfrm>
          <a:prstGeom prst="rect">
            <a:avLst/>
          </a:prstGeom>
          <a:solidFill>
            <a:srgbClr val="3421C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2000" y="4761557"/>
            <a:ext cx="68199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chemeClr val="bg1"/>
                </a:solidFill>
              </a:rPr>
              <a:t>🎯  Adaptent selon le contexte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7700" y="5051772"/>
            <a:ext cx="7048500" cy="323850"/>
          </a:xfrm>
          <a:prstGeom prst="rect">
            <a:avLst/>
          </a:prstGeom>
          <a:solidFill>
            <a:srgbClr val="3421C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2000" y="5123507"/>
            <a:ext cx="68199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chemeClr val="bg1"/>
                </a:solidFill>
              </a:rPr>
              <a:t>💬  Comprennent l'intention implicite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0"/>
            <a:ext cx="419100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0"/>
            <a:ext cx="4191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7625" cy="6858000"/>
          </a:xfrm>
          <a:prstGeom prst="rect">
            <a:avLst/>
          </a:prstGeom>
          <a:solidFill>
            <a:srgbClr val="14D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7700" y="1614160"/>
            <a:ext cx="5715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spc="300" dirty="0">
                <a:solidFill>
                  <a:srgbClr val="B8CCEE"/>
                </a:solidFill>
                <a:latin typeface="DM Sans"/>
              </a:rPr>
              <a:t>CHANGEMENT DE 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1823710"/>
            <a:ext cx="5715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EEF3FF"/>
                </a:solidFill>
                <a:latin typeface="Atkinson Hyperlegible"/>
              </a:rPr>
              <a:t>De nouveaux </a:t>
            </a:r>
            <a:r>
              <a:rPr sz="2800" b="1" dirty="0" err="1">
                <a:solidFill>
                  <a:srgbClr val="EEF3FF"/>
                </a:solidFill>
                <a:latin typeface="Atkinson Hyperlegible"/>
              </a:rPr>
              <a:t>acteurs</a:t>
            </a:r>
            <a:endParaRPr sz="2800" b="1" dirty="0">
              <a:solidFill>
                <a:srgbClr val="EEF3FF"/>
              </a:solidFill>
              <a:latin typeface="Atkinson Hyperlegible"/>
            </a:endParaRPr>
          </a:p>
          <a:p>
            <a:pPr algn="l"/>
            <a:r>
              <a:rPr sz="2800" b="1" dirty="0">
                <a:solidFill>
                  <a:srgbClr val="EEF3FF"/>
                </a:solidFill>
                <a:latin typeface="Atkinson Hyperlegible"/>
              </a:rPr>
              <a:t>dans le workflow.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7700" y="2633335"/>
            <a:ext cx="5715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B8CCEE"/>
                </a:solidFill>
                <a:latin typeface="DM Sans"/>
              </a:rPr>
              <a:t>Les agents </a:t>
            </a:r>
            <a:r>
              <a:rPr sz="1300" dirty="0" err="1">
                <a:solidFill>
                  <a:srgbClr val="B8CCEE"/>
                </a:solidFill>
                <a:latin typeface="DM Sans"/>
              </a:rPr>
              <a:t>d'IA</a:t>
            </a:r>
            <a:r>
              <a:rPr sz="1300" dirty="0">
                <a:solidFill>
                  <a:srgbClr val="B8CCEE"/>
                </a:solidFill>
                <a:latin typeface="DM Sans"/>
              </a:rPr>
              <a:t> </a:t>
            </a:r>
            <a:r>
              <a:rPr sz="1300" dirty="0" err="1">
                <a:solidFill>
                  <a:srgbClr val="B8CCEE"/>
                </a:solidFill>
                <a:latin typeface="DM Sans"/>
              </a:rPr>
              <a:t>génèrent</a:t>
            </a:r>
            <a:r>
              <a:rPr sz="1300" dirty="0">
                <a:solidFill>
                  <a:srgbClr val="B8CCEE"/>
                </a:solidFill>
                <a:latin typeface="DM Sans"/>
              </a:rPr>
              <a:t> des </a:t>
            </a:r>
            <a:r>
              <a:rPr sz="1300" dirty="0" err="1">
                <a:solidFill>
                  <a:srgbClr val="B8CCEE"/>
                </a:solidFill>
                <a:latin typeface="DM Sans"/>
              </a:rPr>
              <a:t>écrans</a:t>
            </a:r>
            <a:r>
              <a:rPr sz="1300" dirty="0">
                <a:solidFill>
                  <a:srgbClr val="B8CCEE"/>
                </a:solidFill>
                <a:latin typeface="DM Sans"/>
              </a:rPr>
              <a:t>, </a:t>
            </a:r>
            <a:r>
              <a:rPr sz="1300" dirty="0" err="1">
                <a:solidFill>
                  <a:srgbClr val="B8CCEE"/>
                </a:solidFill>
                <a:latin typeface="DM Sans"/>
              </a:rPr>
              <a:t>produisent</a:t>
            </a:r>
            <a:r>
              <a:rPr sz="1300" dirty="0">
                <a:solidFill>
                  <a:srgbClr val="B8CCEE"/>
                </a:solidFill>
                <a:latin typeface="DM Sans"/>
              </a:rPr>
              <a:t> du code, </a:t>
            </a:r>
            <a:r>
              <a:rPr sz="1300" dirty="0" err="1">
                <a:solidFill>
                  <a:srgbClr val="B8CCEE"/>
                </a:solidFill>
                <a:latin typeface="DM Sans"/>
              </a:rPr>
              <a:t>assemblent</a:t>
            </a:r>
            <a:r>
              <a:rPr sz="1300" dirty="0">
                <a:solidFill>
                  <a:srgbClr val="B8CCEE"/>
                </a:solidFill>
                <a:latin typeface="DM Sans"/>
              </a:rPr>
              <a:t> des composants,</a:t>
            </a:r>
            <a:r>
              <a:rPr lang="fr-CA" sz="1300" dirty="0">
                <a:solidFill>
                  <a:srgbClr val="B8CCEE"/>
                </a:solidFill>
                <a:latin typeface="DM Sans"/>
              </a:rPr>
              <a:t> </a:t>
            </a:r>
            <a:r>
              <a:rPr sz="1300" dirty="0" err="1">
                <a:solidFill>
                  <a:srgbClr val="B8CCEE"/>
                </a:solidFill>
                <a:latin typeface="DM Sans"/>
              </a:rPr>
              <a:t>vérifient</a:t>
            </a:r>
            <a:r>
              <a:rPr sz="1300" dirty="0">
                <a:solidFill>
                  <a:srgbClr val="B8CCEE"/>
                </a:solidFill>
                <a:latin typeface="DM Sans"/>
              </a:rPr>
              <a:t> des règles et </a:t>
            </a:r>
            <a:r>
              <a:rPr sz="1300" dirty="0" err="1">
                <a:solidFill>
                  <a:srgbClr val="B8CCEE"/>
                </a:solidFill>
                <a:latin typeface="DM Sans"/>
              </a:rPr>
              <a:t>appliquent</a:t>
            </a:r>
            <a:r>
              <a:rPr sz="1300" dirty="0">
                <a:solidFill>
                  <a:srgbClr val="B8CCEE"/>
                </a:solidFill>
                <a:latin typeface="DM Sans"/>
              </a:rPr>
              <a:t> des </a:t>
            </a:r>
            <a:r>
              <a:rPr sz="1300" dirty="0" err="1">
                <a:solidFill>
                  <a:srgbClr val="B8CCEE"/>
                </a:solidFill>
                <a:latin typeface="DM Sans"/>
              </a:rPr>
              <a:t>contraintes</a:t>
            </a:r>
            <a:r>
              <a:rPr sz="1300" dirty="0">
                <a:solidFill>
                  <a:srgbClr val="B8CCEE"/>
                </a:solidFill>
                <a:latin typeface="DM San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6800" y="3369072"/>
            <a:ext cx="38100" cy="647700"/>
          </a:xfrm>
          <a:prstGeom prst="rect">
            <a:avLst/>
          </a:prstGeom>
          <a:solidFill>
            <a:srgbClr val="ED6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19200" y="3444359"/>
            <a:ext cx="401002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 err="1">
                <a:solidFill>
                  <a:srgbClr val="EEF3FF"/>
                </a:solidFill>
              </a:rPr>
              <a:t>Ils</a:t>
            </a:r>
            <a:r>
              <a:rPr sz="1100" b="0" i="1" dirty="0">
                <a:solidFill>
                  <a:srgbClr val="EEF3FF"/>
                </a:solidFill>
              </a:rPr>
              <a:t> </a:t>
            </a:r>
            <a:r>
              <a:rPr sz="1100" b="0" i="1" dirty="0" err="1">
                <a:solidFill>
                  <a:srgbClr val="EEF3FF"/>
                </a:solidFill>
              </a:rPr>
              <a:t>exécutent</a:t>
            </a:r>
            <a:r>
              <a:rPr sz="1100" b="0" i="1" dirty="0">
                <a:solidFill>
                  <a:srgbClr val="EEF3FF"/>
                </a:solidFill>
              </a:rPr>
              <a:t> </a:t>
            </a:r>
            <a:r>
              <a:rPr sz="1100" b="0" i="1" dirty="0" err="1">
                <a:solidFill>
                  <a:srgbClr val="EEF3FF"/>
                </a:solidFill>
              </a:rPr>
              <a:t>ce</a:t>
            </a:r>
            <a:r>
              <a:rPr sz="1100" b="0" i="1" dirty="0">
                <a:solidFill>
                  <a:srgbClr val="EEF3FF"/>
                </a:solidFill>
              </a:rPr>
              <a:t> qui </a:t>
            </a:r>
            <a:r>
              <a:rPr sz="1100" b="0" i="1" dirty="0" err="1">
                <a:solidFill>
                  <a:srgbClr val="EEF3FF"/>
                </a:solidFill>
              </a:rPr>
              <a:t>leur</a:t>
            </a:r>
            <a:r>
              <a:rPr sz="1100" b="0" i="1" dirty="0">
                <a:solidFill>
                  <a:srgbClr val="EEF3FF"/>
                </a:solidFill>
              </a:rPr>
              <a:t> est </a:t>
            </a:r>
            <a:r>
              <a:rPr sz="1100" b="0" i="1" dirty="0" err="1">
                <a:solidFill>
                  <a:srgbClr val="EEF3FF"/>
                </a:solidFill>
              </a:rPr>
              <a:t>fourni</a:t>
            </a:r>
            <a:r>
              <a:rPr sz="1100" b="0" i="1" dirty="0">
                <a:solidFill>
                  <a:srgbClr val="EEF3FF"/>
                </a:solidFill>
              </a:rPr>
              <a:t>. </a:t>
            </a:r>
            <a:r>
              <a:rPr sz="1100" b="0" i="1" dirty="0" err="1">
                <a:solidFill>
                  <a:srgbClr val="EEF3FF"/>
                </a:solidFill>
              </a:rPr>
              <a:t>Ils</a:t>
            </a:r>
            <a:r>
              <a:rPr sz="1100" b="0" i="1" dirty="0">
                <a:solidFill>
                  <a:srgbClr val="EEF3FF"/>
                </a:solidFill>
              </a:rPr>
              <a:t> </a:t>
            </a:r>
            <a:r>
              <a:rPr sz="1100" b="0" i="1" dirty="0" err="1">
                <a:solidFill>
                  <a:srgbClr val="EEF3FF"/>
                </a:solidFill>
              </a:rPr>
              <a:t>n'arbitrent</a:t>
            </a:r>
            <a:r>
              <a:rPr sz="1100" b="0" i="1" dirty="0">
                <a:solidFill>
                  <a:srgbClr val="EEF3FF"/>
                </a:solidFill>
              </a:rPr>
              <a:t> pas. </a:t>
            </a:r>
            <a:br>
              <a:rPr lang="fr-CA" sz="1100" b="0" i="1" dirty="0">
                <a:solidFill>
                  <a:srgbClr val="EEF3FF"/>
                </a:solidFill>
              </a:rPr>
            </a:br>
            <a:r>
              <a:rPr sz="1100" b="0" i="1" dirty="0" err="1">
                <a:solidFill>
                  <a:srgbClr val="EEF3FF"/>
                </a:solidFill>
              </a:rPr>
              <a:t>Ils</a:t>
            </a:r>
            <a:r>
              <a:rPr lang="fr-CA" sz="1100" b="0" i="1" dirty="0">
                <a:solidFill>
                  <a:srgbClr val="EEF3FF"/>
                </a:solidFill>
              </a:rPr>
              <a:t> </a:t>
            </a:r>
            <a:r>
              <a:rPr sz="1100" b="0" i="1" dirty="0" err="1">
                <a:solidFill>
                  <a:srgbClr val="EEF3FF"/>
                </a:solidFill>
              </a:rPr>
              <a:t>n'interprètent</a:t>
            </a:r>
            <a:r>
              <a:rPr sz="1100" b="0" i="1" dirty="0">
                <a:solidFill>
                  <a:srgbClr val="EEF3FF"/>
                </a:solidFill>
              </a:rPr>
              <a:t> pas.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7700" y="4244975"/>
            <a:ext cx="762000" cy="209550"/>
          </a:xfrm>
          <a:prstGeom prst="rect">
            <a:avLst/>
          </a:prstGeom>
          <a:solidFill>
            <a:srgbClr val="2B7FFF"/>
          </a:solidFill>
          <a:ln>
            <a:solidFill>
              <a:srgbClr val="2B7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4244975"/>
            <a:ext cx="685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 err="1">
                <a:solidFill>
                  <a:srgbClr val="B8CCEE"/>
                </a:solidFill>
                <a:latin typeface="DM Sans"/>
              </a:rPr>
              <a:t>Génèrent</a:t>
            </a:r>
            <a:endParaRPr sz="900" b="0" i="0" dirty="0">
              <a:solidFill>
                <a:srgbClr val="B8CCEE"/>
              </a:solidFill>
              <a:latin typeface="DM San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500187" y="4244975"/>
            <a:ext cx="876300" cy="209550"/>
          </a:xfrm>
          <a:prstGeom prst="rect">
            <a:avLst/>
          </a:prstGeom>
          <a:solidFill>
            <a:srgbClr val="2B7FFF"/>
          </a:solidFill>
          <a:ln>
            <a:solidFill>
              <a:srgbClr val="2B7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493044" y="4236566"/>
            <a:ext cx="8763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 err="1">
                <a:solidFill>
                  <a:srgbClr val="B8CCEE"/>
                </a:solidFill>
                <a:latin typeface="DM Sans"/>
              </a:rPr>
              <a:t>Assemblent</a:t>
            </a:r>
            <a:endParaRPr sz="900" b="0" i="0" dirty="0">
              <a:solidFill>
                <a:srgbClr val="B8CCEE"/>
              </a:solidFill>
              <a:latin typeface="DM San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452687" y="4244975"/>
            <a:ext cx="742950" cy="209550"/>
          </a:xfrm>
          <a:prstGeom prst="rect">
            <a:avLst/>
          </a:prstGeom>
          <a:solidFill>
            <a:srgbClr val="2B7FFF"/>
          </a:solidFill>
          <a:ln>
            <a:solidFill>
              <a:srgbClr val="2B7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90787" y="4236566"/>
            <a:ext cx="6667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 err="1">
                <a:solidFill>
                  <a:srgbClr val="B8CCEE"/>
                </a:solidFill>
                <a:latin typeface="DM Sans"/>
              </a:rPr>
              <a:t>Vérifient</a:t>
            </a:r>
            <a:endParaRPr sz="900" b="0" i="0" dirty="0">
              <a:solidFill>
                <a:srgbClr val="B8CCEE"/>
              </a:solidFill>
              <a:latin typeface="DM San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267075" y="4244975"/>
            <a:ext cx="1257300" cy="209550"/>
          </a:xfrm>
          <a:prstGeom prst="rect">
            <a:avLst/>
          </a:prstGeom>
          <a:solidFill>
            <a:srgbClr val="FF5555"/>
          </a:solidFill>
          <a:ln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05175" y="4244975"/>
            <a:ext cx="11811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 err="1">
                <a:solidFill>
                  <a:srgbClr val="B8CCEE"/>
                </a:solidFill>
                <a:latin typeface="DM Sans"/>
              </a:rPr>
              <a:t>N'interprètent</a:t>
            </a:r>
            <a:r>
              <a:rPr sz="900" b="0" i="0" dirty="0">
                <a:solidFill>
                  <a:srgbClr val="B8CCEE"/>
                </a:solidFill>
                <a:latin typeface="DM Sans"/>
              </a:rPr>
              <a:t> pa</a:t>
            </a:r>
            <a:r>
              <a:rPr lang="fr-CA" sz="900" b="0" i="0" dirty="0">
                <a:solidFill>
                  <a:srgbClr val="B8CCEE"/>
                </a:solidFill>
                <a:latin typeface="DM Sans"/>
              </a:rPr>
              <a:t>s</a:t>
            </a:r>
            <a:endParaRPr sz="900" b="0" i="0" dirty="0">
              <a:solidFill>
                <a:srgbClr val="B8CCEE"/>
              </a:solidFill>
              <a:latin typeface="DM San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600575" y="4244975"/>
            <a:ext cx="1085850" cy="209550"/>
          </a:xfrm>
          <a:prstGeom prst="rect">
            <a:avLst/>
          </a:prstGeom>
          <a:solidFill>
            <a:srgbClr val="FF5555"/>
          </a:solidFill>
          <a:ln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38675" y="4244975"/>
            <a:ext cx="10096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 err="1">
                <a:solidFill>
                  <a:srgbClr val="B8CCEE"/>
                </a:solidFill>
                <a:latin typeface="DM Sans"/>
              </a:rPr>
              <a:t>N'arbitrent</a:t>
            </a:r>
            <a:r>
              <a:rPr sz="900" b="0" i="0" dirty="0">
                <a:solidFill>
                  <a:srgbClr val="B8CCEE"/>
                </a:solidFill>
                <a:latin typeface="DM Sans"/>
              </a:rPr>
              <a:t> pa</a:t>
            </a:r>
            <a:r>
              <a:rPr lang="fr-CA" sz="900" b="0" i="0" dirty="0">
                <a:solidFill>
                  <a:srgbClr val="B8CCEE"/>
                </a:solidFill>
                <a:latin typeface="DM Sans"/>
              </a:rPr>
              <a:t>s</a:t>
            </a:r>
            <a:endParaRPr sz="900" b="0" i="0" dirty="0">
              <a:solidFill>
                <a:srgbClr val="B8CCEE"/>
              </a:solidFill>
              <a:latin typeface="DM San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667500" y="0"/>
            <a:ext cx="55245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300" y="1561338"/>
            <a:ext cx="4914900" cy="37353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7625" cy="6858000"/>
          </a:xfrm>
          <a:prstGeom prst="rect">
            <a:avLst/>
          </a:prstGeom>
          <a:solidFill>
            <a:srgbClr val="14D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7700" y="495300"/>
            <a:ext cx="7048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CEE"/>
                </a:solidFill>
                <a:latin typeface="DM Sans"/>
              </a:rPr>
              <a:t>LE PROBLÈME CENTRAL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704850"/>
            <a:ext cx="704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F3FF"/>
                </a:solidFill>
                <a:latin typeface="Atkinson Hyperlegible"/>
              </a:rPr>
              <a:t>Les agents ne lisent</a:t>
            </a:r>
          </a:p>
          <a:p>
            <a:pPr algn="l"/>
            <a:r>
              <a:rPr sz="3200" b="1">
                <a:solidFill>
                  <a:srgbClr val="EEF3FF"/>
                </a:solidFill>
                <a:latin typeface="Atkinson Hyperlegible"/>
              </a:rPr>
              <a:t>pas </a:t>
            </a:r>
            <a:r>
              <a:rPr sz="3200" b="1">
                <a:solidFill>
                  <a:srgbClr val="ED6B41"/>
                </a:solidFill>
                <a:latin typeface="Atkinson Hyperlegible"/>
              </a:rPr>
              <a:t>l'implicite</a:t>
            </a:r>
            <a:r>
              <a:rPr sz="3200" b="1">
                <a:solidFill>
                  <a:srgbClr val="EEF3FF"/>
                </a:solidFill>
                <a:latin typeface="Atkinson Hyperlegible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7700" y="1514475"/>
            <a:ext cx="70485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B8CCEE"/>
                </a:solidFill>
                <a:latin typeface="DM Sans"/>
              </a:rPr>
              <a:t>En présence d'ambiguïtés, un agent applique mal les règles — non pas parce qu'il est
                        défaillant, mais parce qu'il ne peut pas </a:t>
            </a:r>
            <a:r>
              <a:rPr sz="1300" b="1">
                <a:solidFill>
                  <a:srgbClr val="EEF3FF"/>
                </a:solidFill>
                <a:latin typeface="DM Sans"/>
              </a:rPr>
              <a:t>interpréter l'intention humaine</a:t>
            </a:r>
            <a:r>
              <a:rPr sz="1300">
                <a:solidFill>
                  <a:srgbClr val="B8CCEE"/>
                </a:solidFill>
                <a:latin typeface="DM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7700" y="2085975"/>
            <a:ext cx="70485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7A90B8"/>
                </a:solidFill>
                <a:latin typeface="DM Sans"/>
              </a:rPr>
              <a:t>Ce n'est pas une erreur de l'agent. C'est
                        un manque de clarté du système.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7700" y="2657475"/>
            <a:ext cx="38100" cy="647700"/>
          </a:xfrm>
          <a:prstGeom prst="rect">
            <a:avLst/>
          </a:prstGeom>
          <a:solidFill>
            <a:srgbClr val="ED6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0100" y="2657475"/>
            <a:ext cx="68961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EEF3FF"/>
                </a:solidFill>
                <a:latin typeface="DM Sans"/>
              </a:rPr>
              <a:t>L'autonomie est le résultat d'un système technique ; la fiabilité, elle, est le résultat d'un processus de design . —
                            Smashing Magazine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0"/>
            <a:ext cx="419100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58200" y="1333500"/>
            <a:ext cx="32766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7A90B8"/>
                </a:solidFill>
                <a:latin typeface="DM Sans"/>
              </a:rPr>
              <a:t>
                            Sans intention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962150"/>
            <a:ext cx="32766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7A90B8"/>
                </a:solidFill>
                <a:latin typeface="DM Sans"/>
              </a:rPr>
              <a:t>
                            Avec intention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2590800"/>
            <a:ext cx="3276600" cy="381000"/>
          </a:xfrm>
          <a:prstGeom prst="rect">
            <a:avLst/>
          </a:prstGeom>
          <a:solidFill>
            <a:srgbClr val="FF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72500" y="26860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D6B41"/>
                </a:solidFill>
                <a:latin typeface="Atkinson Hyperlegible"/>
              </a:rPr>
              <a:t>red-6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3028950"/>
            <a:ext cx="3276600" cy="381000"/>
          </a:xfrm>
          <a:prstGeom prst="rect">
            <a:avLst/>
          </a:prstGeom>
          <a:solidFill>
            <a:srgbClr val="14D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72500" y="312420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4D9C8"/>
                </a:solidFill>
                <a:latin typeface="Atkinson Hyperlegible"/>
              </a:rPr>
              <a:t>color-feedback-error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467100"/>
            <a:ext cx="32766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A90B8"/>
                </a:solidFill>
                <a:latin typeface="DM Sans"/>
              </a:rPr>
              <a:t>Sans intention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676650"/>
            <a:ext cx="32766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4D9C8"/>
                </a:solidFill>
                <a:latin typeface="DM Sans"/>
              </a:rPr>
              <a:t>Avec intention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7625" cy="6858000"/>
          </a:xfrm>
          <a:prstGeom prst="rect">
            <a:avLst/>
          </a:prstGeom>
          <a:solidFill>
            <a:srgbClr val="14D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7700" y="495300"/>
            <a:ext cx="571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CEE"/>
                </a:solidFill>
                <a:latin typeface="DM Sans"/>
              </a:rPr>
              <a:t>DÉFINITION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704850"/>
            <a:ext cx="5715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EF3FF"/>
                </a:solidFill>
                <a:latin typeface="Atkinson Hyperlegible"/>
              </a:rPr>
              <a:t>Qu'est-ce qu'un système de design agentique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7700" y="1514475"/>
            <a:ext cx="5715000" cy="685800"/>
          </a:xfrm>
          <a:prstGeom prst="rect">
            <a:avLst/>
          </a:prstGeom>
          <a:solidFill>
            <a:srgbClr val="14D9C8"/>
          </a:solidFill>
          <a:ln>
            <a:solidFill>
              <a:srgbClr val="14D9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0100" y="1609725"/>
            <a:ext cx="54102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EF3FF"/>
                </a:solidFill>
                <a:latin typeface="DM Sans"/>
              </a:rPr>
              <a:t>
                        Un système de design conçu pour être compris et utilisé à la fois par des </a:t>
            </a:r>
            <a:r>
              <a:rPr sz="1200">
                <a:solidFill>
                  <a:srgbClr val="ED6B41"/>
                </a:solidFill>
                <a:latin typeface="DM Sans"/>
              </a:rPr>
              <a:t>humains</a:t>
            </a:r>
            <a:r>
              <a:rPr sz="1200">
                <a:solidFill>
                  <a:srgbClr val="EEF3FF"/>
                </a:solidFill>
                <a:latin typeface="DM Sans"/>
              </a:rPr>
              <a:t> et
                        par des </a:t>
            </a:r>
            <a:r>
              <a:rPr sz="1200">
                <a:solidFill>
                  <a:srgbClr val="ED6B41"/>
                </a:solidFill>
                <a:latin typeface="DM Sans"/>
              </a:rPr>
              <a:t>agents d'IA</a:t>
            </a:r>
            <a:r>
              <a:rPr sz="1200">
                <a:solidFill>
                  <a:srgbClr val="EEF3FF"/>
                </a:solidFill>
                <a:latin typeface="DM Sans"/>
              </a:rPr>
              <a:t>, afin que ces agents puissent appliquer correctement les règles et
                        contraintes définies par les équipes.
                  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" y="2276475"/>
            <a:ext cx="5715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EF3FF"/>
                </a:solidFill>
                <a:latin typeface="Atkinson Hyperlegible"/>
              </a:rPr>
              <a:t>
                        Ce n'est pas un nouveau type de design.</a:t>
            </a:r>
          </a:p>
          <a:p>
            <a:pPr algn="l"/>
            <a:r>
              <a:rPr sz="1600" b="1">
                <a:solidFill>
                  <a:srgbClr val="EEF3FF"/>
                </a:solidFill>
                <a:latin typeface="Atkinson Hyperlegible"/>
              </a:rPr>
              <a:t>
</a:t>
            </a:r>
            <a:r>
              <a:rPr sz="1600" b="1">
                <a:solidFill>
                  <a:srgbClr val="14D9C8"/>
                </a:solidFill>
                <a:latin typeface="Atkinson Hyperlegible"/>
              </a:rPr>
              <a:t>C'est une évolution dans la façonde formuler les décisions.</a:t>
            </a:r>
            <a:r>
              <a:rPr sz="1600" b="1">
                <a:solidFill>
                  <a:srgbClr val="EEF3FF"/>
                </a:solidFill>
                <a:latin typeface="Atkinson Hyperlegible"/>
              </a:rPr>
              <a:t>
</a:t>
            </a:r>
          </a:p>
        </p:txBody>
      </p:sp>
      <p:sp>
        <p:nvSpPr>
          <p:cNvPr id="8" name="Rectangle 7"/>
          <p:cNvSpPr/>
          <p:nvPr/>
        </p:nvSpPr>
        <p:spPr>
          <a:xfrm>
            <a:off x="6667500" y="0"/>
            <a:ext cx="5524500" cy="6858000"/>
          </a:xfrm>
          <a:prstGeom prst="rect">
            <a:avLst/>
          </a:prstGeom>
          <a:solidFill>
            <a:srgbClr val="06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300" y="1561338"/>
            <a:ext cx="4914900" cy="37353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7625" cy="6858000"/>
          </a:xfrm>
          <a:prstGeom prst="rect">
            <a:avLst/>
          </a:prstGeom>
          <a:solidFill>
            <a:srgbClr val="14D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7700" y="495300"/>
            <a:ext cx="723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CEE"/>
                </a:solidFill>
                <a:latin typeface="DM Sans"/>
              </a:rPr>
              <a:t>CE QUI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704850"/>
            <a:ext cx="7239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EF3FF"/>
                </a:solidFill>
                <a:latin typeface="Atkinson Hyperlegible"/>
              </a:rPr>
              <a:t>Trois changements concrets.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7700" y="1514475"/>
            <a:ext cx="72390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B8CCEE"/>
                </a:solidFill>
                <a:latin typeface="DM Sans"/>
              </a:rPr>
              <a:t>Écrites clairement, structurées, désambiguïsées. Chaque règle
                                    doit pouvoir être appliquée </a:t>
            </a:r>
            <a:r>
              <a:rPr sz="1200" b="1">
                <a:solidFill>
                  <a:srgbClr val="EEF3FF"/>
                </a:solidFill>
                <a:latin typeface="DM Sans"/>
              </a:rPr>
              <a:t>sans interprétation</a:t>
            </a:r>
            <a:r>
              <a:rPr sz="1200">
                <a:solidFill>
                  <a:srgbClr val="B8CCEE"/>
                </a:solidFill>
                <a:latin typeface="DM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7700" y="2085975"/>
            <a:ext cx="72390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B8CCEE"/>
                </a:solidFill>
                <a:latin typeface="DM Sans"/>
              </a:rPr>
              <a:t>Elle ne fait plus que expliquer — elle donne des instructions
                                    directement applicables par des agents.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" y="2657475"/>
            <a:ext cx="72390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B8CCEE"/>
                </a:solidFill>
                <a:latin typeface="DM Sans"/>
              </a:rPr>
              <a:t>Le cadre d'exécution est défini </a:t>
            </a:r>
            <a:r>
              <a:rPr sz="1200" b="1">
                <a:solidFill>
                  <a:srgbClr val="EEF3FF"/>
                </a:solidFill>
                <a:latin typeface="DM Sans"/>
              </a:rPr>
              <a:t>avant</a:t>
            </a:r>
            <a:r>
              <a:rPr sz="1200">
                <a:solidFill>
                  <a:srgbClr val="B8CCEE"/>
                </a:solidFill>
                <a:latin typeface="DM Sans"/>
              </a:rPr>
              <a:t> la
                                    production — pas seulement comme outil de correction après.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7700" y="3228975"/>
            <a:ext cx="7239000" cy="7239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2950" y="3305175"/>
            <a:ext cx="4191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4D9C8"/>
                </a:solidFill>
                <a:latin typeface="Atkinson Hyperlegibl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324225"/>
            <a:ext cx="65532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D9C8"/>
                </a:solidFill>
                <a:latin typeface="Atkinson Hyperlegible"/>
              </a:rPr>
              <a:t>Les règles deviennent explicites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3629025"/>
            <a:ext cx="6553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8CCEE"/>
                </a:solidFill>
                <a:latin typeface="DM Sans"/>
              </a:rPr>
              <a:t>Écrites clairement, structurées, désambiguïsées. Chaque règle
                                    doit pouvoir être appliquée </a:t>
            </a:r>
            <a:r>
              <a:rPr sz="1000" b="1">
                <a:solidFill>
                  <a:srgbClr val="EEF3FF"/>
                </a:solidFill>
                <a:latin typeface="DM Sans"/>
              </a:rPr>
              <a:t>sans interprétation</a:t>
            </a:r>
            <a:r>
              <a:rPr sz="1000">
                <a:solidFill>
                  <a:srgbClr val="B8CCEE"/>
                </a:solidFill>
                <a:latin typeface="DM Sans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7700" y="4029075"/>
            <a:ext cx="7239000" cy="7239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2950" y="4105275"/>
            <a:ext cx="4191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4D9C8"/>
                </a:solidFill>
                <a:latin typeface="Atkinson Hyperlegible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4124325"/>
            <a:ext cx="65532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D9C8"/>
                </a:solidFill>
                <a:latin typeface="Atkinson Hyperlegible"/>
              </a:rPr>
              <a:t>La documentation instruit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4429125"/>
            <a:ext cx="6553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8CCEE"/>
                </a:solidFill>
                <a:latin typeface="DM Sans"/>
              </a:rPr>
              <a:t>Elle ne fait plus que expliquer — elle donne des instructions
                                    directement applicables par des agents.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7700" y="4829175"/>
            <a:ext cx="7239000" cy="7239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2950" y="4905375"/>
            <a:ext cx="4191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4D9C8"/>
                </a:solidFill>
                <a:latin typeface="Atkinson Hyperlegibl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9200" y="4924425"/>
            <a:ext cx="65532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D9C8"/>
                </a:solidFill>
                <a:latin typeface="Atkinson Hyperlegible"/>
              </a:rPr>
              <a:t>Le système encadre en amont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9200" y="5229225"/>
            <a:ext cx="6553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8CCEE"/>
                </a:solidFill>
                <a:latin typeface="DM Sans"/>
              </a:rPr>
              <a:t>Le cadre d'exécution est défini </a:t>
            </a:r>
            <a:r>
              <a:rPr sz="1000" b="1">
                <a:solidFill>
                  <a:srgbClr val="EEF3FF"/>
                </a:solidFill>
                <a:latin typeface="DM Sans"/>
              </a:rPr>
              <a:t>avant</a:t>
            </a:r>
            <a:r>
              <a:rPr sz="1000">
                <a:solidFill>
                  <a:srgbClr val="B8CCEE"/>
                </a:solidFill>
                <a:latin typeface="DM Sans"/>
              </a:rPr>
              <a:t> la
                                    production — pas seulement comme outil de correction après.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91500" y="0"/>
            <a:ext cx="4000500" cy="6858000"/>
          </a:xfrm>
          <a:prstGeom prst="rect">
            <a:avLst/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48700" y="1333500"/>
            <a:ext cx="30861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EEF3FF"/>
                </a:solidFill>
                <a:latin typeface="Atkinson Hyperlegible"/>
              </a:rPr>
              <a:t>
                            Le rôle du designer évolue : de producteur d'artefacts à </a:t>
            </a:r>
            <a:r>
              <a:rPr sz="1900" b="1">
                <a:solidFill>
                  <a:srgbClr val="14D9C8"/>
                </a:solidFill>
                <a:latin typeface="Atkinson Hyperlegible"/>
              </a:rPr>
              <a:t>directeur d'intention</a:t>
            </a:r>
            <a:r>
              <a:rPr sz="1900" b="1">
                <a:solidFill>
                  <a:srgbClr val="EEF3FF"/>
                </a:solidFill>
                <a:latin typeface="Atkinson Hyperlegible"/>
              </a:rPr>
              <a:t>.
                         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8700" y="2667000"/>
            <a:ext cx="30861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A90B8"/>
                </a:solidFill>
                <a:latin typeface="DM Sans"/>
              </a:rPr>
              <a:t>— Smashing Magazine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8700" y="2895600"/>
            <a:ext cx="308610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48700" y="3048000"/>
            <a:ext cx="30861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7A90B8"/>
                </a:solidFill>
                <a:latin typeface="DM Sans"/>
              </a:rPr>
              <a:t>Moins d'interprétation. Moins de dérive. Plus de
                            cohérence à grande vitesse.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7625" cy="6858000"/>
          </a:xfrm>
          <a:prstGeom prst="rect">
            <a:avLst/>
          </a:prstGeom>
          <a:solidFill>
            <a:srgbClr val="14D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7700" y="495300"/>
            <a:ext cx="571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CEE"/>
                </a:solidFill>
                <a:latin typeface="DM Sans"/>
              </a:rPr>
              <a:t>DOCUMENTATION AGENTIQUE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704850"/>
            <a:ext cx="5715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EF3FF"/>
                </a:solidFill>
                <a:latin typeface="Atkinson Hyperlegible"/>
              </a:rPr>
              <a:t>D'artefact statique</a:t>
            </a:r>
          </a:p>
          <a:p>
            <a:pPr algn="l"/>
            <a:r>
              <a:rPr sz="2800" b="1">
                <a:solidFill>
                  <a:srgbClr val="EEF3FF"/>
                </a:solidFill>
                <a:latin typeface="Atkinson Hyperlegible"/>
              </a:rPr>
              <a:t>à </a:t>
            </a:r>
            <a:r>
              <a:rPr sz="2800" b="1">
                <a:solidFill>
                  <a:srgbClr val="14D9C8"/>
                </a:solidFill>
                <a:latin typeface="Atkinson Hyperlegible"/>
              </a:rPr>
              <a:t>système vivant</a:t>
            </a:r>
            <a:r>
              <a:rPr sz="2800" b="1">
                <a:solidFill>
                  <a:srgbClr val="EEF3FF"/>
                </a:solidFill>
                <a:latin typeface="Atkinson Hyperlegible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7700" y="1514475"/>
            <a:ext cx="57150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B8CCEE"/>
                </a:solidFill>
                <a:latin typeface="DM Sans"/>
              </a:rPr>
              <a:t>Dans un système classique, la documentation vieillit dès sa
                        publication. Dans un système agentique, elle se synchronise </a:t>
            </a:r>
            <a:r>
              <a:rPr sz="1200" b="1">
                <a:solidFill>
                  <a:srgbClr val="EEF3FF"/>
                </a:solidFill>
                <a:latin typeface="DM Sans"/>
              </a:rPr>
              <a:t>avec</a:t>
            </a:r>
            <a:r>
              <a:rPr sz="1200">
                <a:solidFill>
                  <a:srgbClr val="B8CCEE"/>
                </a:solidFill>
                <a:latin typeface="DM Sans"/>
              </a:rPr>
              <a:t> le système.
                    </a:t>
            </a:r>
          </a:p>
        </p:txBody>
      </p:sp>
      <p:sp>
        <p:nvSpPr>
          <p:cNvPr id="6" name="Rectangle 5"/>
          <p:cNvSpPr/>
          <p:nvPr/>
        </p:nvSpPr>
        <p:spPr>
          <a:xfrm>
            <a:off x="647700" y="2085975"/>
            <a:ext cx="38100" cy="647700"/>
          </a:xfrm>
          <a:prstGeom prst="rect">
            <a:avLst/>
          </a:prstGeom>
          <a:solidFill>
            <a:srgbClr val="ED6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0100" y="2085975"/>
            <a:ext cx="55626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EEF3FF"/>
                </a:solidFill>
                <a:latin typeface="DM Sans"/>
              </a:rPr>
              <a:t>La question n'est pas « que peut faire l'agent ? » mais « que lui permet-on de
                            faire , et à quel niveau de confiance ? » —
                            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7700" y="2828925"/>
            <a:ext cx="5715000" cy="7239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7700" y="3629025"/>
            <a:ext cx="5715000" cy="7239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7700" y="4429125"/>
            <a:ext cx="5715000" cy="571500"/>
          </a:xfrm>
          <a:prstGeom prst="rect">
            <a:avLst/>
          </a:prstGeom>
          <a:solidFill>
            <a:srgbClr val="14D9C8"/>
          </a:solidFill>
          <a:ln>
            <a:solidFill>
              <a:srgbClr val="14D9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1050" y="4505325"/>
            <a:ext cx="54483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D9C8"/>
                </a:solidFill>
                <a:latin typeface="Atkinson Hyperlegible"/>
              </a:rPr>
              <a:t>Infrastructure, pas
                                document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050" y="4714875"/>
            <a:ext cx="5448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CEE"/>
                </a:solidFill>
                <a:latin typeface="DM Sans"/>
              </a:rPr>
              <a:t>Infrastructure, pas
                                document Lisible par humains et agents. Structurée, synchronisée, partiellement automatisée.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7500" y="0"/>
            <a:ext cx="552450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300" y="1561338"/>
            <a:ext cx="4914900" cy="373532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7625" cy="6858000"/>
          </a:xfrm>
          <a:prstGeom prst="rect">
            <a:avLst/>
          </a:prstGeom>
          <a:solidFill>
            <a:srgbClr val="14D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7700" y="495300"/>
            <a:ext cx="6858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CEE"/>
                </a:solidFill>
                <a:latin typeface="DM Sans"/>
              </a:rPr>
              <a:t>CLARIFICATIONS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704850"/>
            <a:ext cx="6858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EF3FF"/>
                </a:solidFill>
                <a:latin typeface="Atkinson Hyperlegible"/>
              </a:rPr>
              <a:t>Ce que ça n'est pas.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7700" y="1514475"/>
            <a:ext cx="6858000" cy="323850"/>
          </a:xfrm>
          <a:prstGeom prst="rect">
            <a:avLst/>
          </a:prstGeom>
          <a:solidFill>
            <a:srgbClr val="FF5555"/>
          </a:solidFill>
          <a:ln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2000" y="1590675"/>
            <a:ext cx="66294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B0B0"/>
                </a:solidFill>
                <a:latin typeface="DM Sans"/>
              </a:rPr>
              <a:t>✗  Un systèmeautonomequi se gère
                                seul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7700" y="1876425"/>
            <a:ext cx="6858000" cy="323850"/>
          </a:xfrm>
          <a:prstGeom prst="rect">
            <a:avLst/>
          </a:prstGeom>
          <a:solidFill>
            <a:srgbClr val="FF5555"/>
          </a:solidFill>
          <a:ln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2000" y="1952625"/>
            <a:ext cx="66294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B0B0"/>
                </a:solidFill>
                <a:latin typeface="DM Sans"/>
              </a:rPr>
              <a:t>✗  Un système quiremplace les
                                    designers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7700" y="2238375"/>
            <a:ext cx="6858000" cy="323850"/>
          </a:xfrm>
          <a:prstGeom prst="rect">
            <a:avLst/>
          </a:prstGeom>
          <a:solidFill>
            <a:srgbClr val="FF5555"/>
          </a:solidFill>
          <a:ln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2000" y="2314575"/>
            <a:ext cx="66294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B0B0"/>
                </a:solidFill>
                <a:latin typeface="DM Sans"/>
              </a:rPr>
              <a:t>✗  Un systèmedécisionnel— les
                                agents n'arbitrent pas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7700" y="2600325"/>
            <a:ext cx="6858000" cy="323850"/>
          </a:xfrm>
          <a:prstGeom prst="rect">
            <a:avLst/>
          </a:prstGeom>
          <a:solidFill>
            <a:srgbClr val="FF5555"/>
          </a:solidFill>
          <a:ln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2000" y="2676525"/>
            <a:ext cx="66294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B0B0"/>
                </a:solidFill>
                <a:latin typeface="DM Sans"/>
              </a:rPr>
              <a:t>✗  Un projetpurement
                                    technologique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7700" y="2962275"/>
            <a:ext cx="6858000" cy="323850"/>
          </a:xfrm>
          <a:prstGeom prst="rect">
            <a:avLst/>
          </a:prstGeom>
          <a:solidFill>
            <a:srgbClr val="14D9C8"/>
          </a:solidFill>
          <a:ln>
            <a:solidFill>
              <a:srgbClr val="14D9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2000" y="3038475"/>
            <a:ext cx="66294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D9C8"/>
                </a:solidFill>
                <a:latin typeface="DM Sans"/>
              </a:rPr>
              <a:t>✓  Un système qui rend lesdécisions
                                    humaines applicables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0500" y="0"/>
            <a:ext cx="438150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67700" y="1333500"/>
            <a:ext cx="34671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7A90B8"/>
                </a:solidFill>
                <a:latin typeface="DM Sans"/>
              </a:rPr>
              <a:t>Investir dans la formalisation des décisions —
                                pas seulement dans les artefacts visuels.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7700" y="1962150"/>
            <a:ext cx="34671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7A90B8"/>
                </a:solidFill>
                <a:latin typeface="DM Sans"/>
              </a:rPr>
              <a:t>Formuler les règles éditoriales avec la même
                                rigueur que les règles visuelles.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7700" y="2590800"/>
            <a:ext cx="34671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7A90B8"/>
                </a:solidFill>
                <a:latin typeface="DM Sans"/>
              </a:rPr>
              <a:t>Le système de design est une </a:t>
            </a:r>
            <a:r>
              <a:rPr sz="1100" b="1">
                <a:solidFill>
                  <a:srgbClr val="EEF3FF"/>
                </a:solidFill>
                <a:latin typeface="DM Sans"/>
              </a:rPr>
              <a:t>infrastructure stratégique</a:t>
            </a:r>
            <a:r>
              <a:rPr sz="1100">
                <a:solidFill>
                  <a:srgbClr val="7A90B8"/>
                </a:solidFill>
                <a:latin typeface="DM Sans"/>
              </a:rPr>
              <a:t> — pas un livrable
                                ponctuel.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67700" y="3219450"/>
            <a:ext cx="3467100" cy="666750"/>
          </a:xfrm>
          <a:prstGeom prst="rect">
            <a:avLst/>
          </a:prstGeom>
          <a:solidFill>
            <a:srgbClr val="342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01050" y="3295650"/>
            <a:ext cx="3200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3FF"/>
                </a:solidFill>
                <a:latin typeface="Atkinson Hyperlegible"/>
              </a:rPr>
              <a:t>🎨 Équipes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1050" y="3562350"/>
            <a:ext cx="32004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A90B8"/>
                </a:solidFill>
                <a:latin typeface="DM Sans"/>
              </a:rPr>
              <a:t>Investir dans la formalisation des décisions —
                                pas seulement dans les artefacts visuels.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7700" y="3962400"/>
            <a:ext cx="3467100" cy="666750"/>
          </a:xfrm>
          <a:prstGeom prst="rect">
            <a:avLst/>
          </a:prstGeom>
          <a:solidFill>
            <a:srgbClr val="342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01050" y="4038600"/>
            <a:ext cx="3200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3FF"/>
                </a:solidFill>
                <a:latin typeface="Atkinson Hyperlegible"/>
              </a:rPr>
              <a:t>💬 CX et communications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1050" y="4305300"/>
            <a:ext cx="32004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A90B8"/>
                </a:solidFill>
                <a:latin typeface="DM Sans"/>
              </a:rPr>
              <a:t>Formuler les règles éditoriales avec la même
                                rigueur que les règles visuelles.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67700" y="4705350"/>
            <a:ext cx="3467100" cy="666750"/>
          </a:xfrm>
          <a:prstGeom prst="rect">
            <a:avLst/>
          </a:prstGeom>
          <a:solidFill>
            <a:srgbClr val="342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1050" y="4781550"/>
            <a:ext cx="3200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3FF"/>
                </a:solidFill>
                <a:latin typeface="Atkinson Hyperlegible"/>
              </a:rPr>
              <a:t>📊 Gestionnaires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1050" y="5048250"/>
            <a:ext cx="32004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A90B8"/>
                </a:solidFill>
                <a:latin typeface="DM Sans"/>
              </a:rPr>
              <a:t>Le système de design est uneinfrastructure stratégique— pas un livrable
                                ponctuel.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7625" cy="6858000"/>
          </a:xfrm>
          <a:prstGeom prst="rect">
            <a:avLst/>
          </a:prstGeom>
          <a:solidFill>
            <a:srgbClr val="14D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7700" y="495300"/>
            <a:ext cx="6858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CEE"/>
                </a:solidFill>
                <a:latin typeface="DM Sans"/>
              </a:rPr>
              <a:t>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704850"/>
            <a:ext cx="6858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F3FF"/>
                </a:solidFill>
                <a:latin typeface="Atkinson Hyperlegible"/>
              </a:rPr>
              <a:t>Un système de design</a:t>
            </a:r>
          </a:p>
          <a:p>
            <a:pPr algn="l"/>
            <a:r>
              <a:rPr sz="3200" b="1">
                <a:solidFill>
                  <a:srgbClr val="EEF3FF"/>
                </a:solidFill>
                <a:latin typeface="Atkinson Hyperlegible"/>
              </a:rPr>
              <a:t>agentique.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7700" y="1514475"/>
            <a:ext cx="68580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B8CCEE"/>
                </a:solidFill>
                <a:latin typeface="DM Sans"/>
              </a:rPr>
              <a:t>C'est l'évolution naturelle d'un système de design classique dans un contexte où des
                        agents d'IA participent à la production.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7700" y="2085975"/>
            <a:ext cx="68580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B8CCEE"/>
                </a:solidFill>
                <a:latin typeface="DM Sans"/>
              </a:rPr>
              <a:t>Il ne change pas la nature profonde du travail de design. Il en </a:t>
            </a:r>
            <a:r>
              <a:rPr sz="1300" b="1">
                <a:solidFill>
                  <a:srgbClr val="EEF3FF"/>
                </a:solidFill>
                <a:latin typeface="DM Sans"/>
              </a:rPr>
              <a:t>rehausse l'exigence</a:t>
            </a:r>
            <a:r>
              <a:rPr sz="1300">
                <a:solidFill>
                  <a:srgbClr val="B8CCEE"/>
                </a:solidFill>
                <a:latin typeface="DM Sans"/>
              </a:rPr>
              <a:t> : les décisions doivent être
                        suffisamment claires pour être comprises par des systèmes qui exécutent sans interpréter.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7700" y="2657475"/>
            <a:ext cx="628650" cy="209550"/>
          </a:xfrm>
          <a:prstGeom prst="rect">
            <a:avLst/>
          </a:prstGeom>
          <a:solidFill>
            <a:srgbClr val="2B7FFF"/>
          </a:solidFill>
          <a:ln>
            <a:solidFill>
              <a:srgbClr val="2B7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686050"/>
            <a:ext cx="5524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8CCEE"/>
                </a:solidFill>
                <a:latin typeface="DM Sans"/>
              </a:rPr>
              <a:t>NNGroup</a:t>
            </a:r>
          </a:p>
        </p:txBody>
      </p:sp>
      <p:sp>
        <p:nvSpPr>
          <p:cNvPr id="9" name="Rectangle 8"/>
          <p:cNvSpPr/>
          <p:nvPr/>
        </p:nvSpPr>
        <p:spPr>
          <a:xfrm>
            <a:off x="1352550" y="2657475"/>
            <a:ext cx="1200150" cy="209550"/>
          </a:xfrm>
          <a:prstGeom prst="rect">
            <a:avLst/>
          </a:prstGeom>
          <a:solidFill>
            <a:srgbClr val="2B7FFF"/>
          </a:solidFill>
          <a:ln>
            <a:solidFill>
              <a:srgbClr val="2B7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90650" y="2686050"/>
            <a:ext cx="11239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8CCEE"/>
                </a:solidFill>
                <a:latin typeface="DM Sans"/>
              </a:rPr>
              <a:t>Smashing Magazine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28900" y="2657475"/>
            <a:ext cx="1314450" cy="209550"/>
          </a:xfrm>
          <a:prstGeom prst="rect">
            <a:avLst/>
          </a:prstGeom>
          <a:solidFill>
            <a:srgbClr val="2B7FFF"/>
          </a:solidFill>
          <a:ln>
            <a:solidFill>
              <a:srgbClr val="2B7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67000" y="2686050"/>
            <a:ext cx="1238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8CCEE"/>
                </a:solidFill>
                <a:latin typeface="DM Sans"/>
              </a:rPr>
              <a:t>Into Design Systems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19550" y="2657475"/>
            <a:ext cx="1543050" cy="209550"/>
          </a:xfrm>
          <a:prstGeom prst="rect">
            <a:avLst/>
          </a:prstGeom>
          <a:solidFill>
            <a:srgbClr val="2B7FFF"/>
          </a:solidFill>
          <a:ln>
            <a:solidFill>
              <a:srgbClr val="2B7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057650" y="2686050"/>
            <a:ext cx="14668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8CCEE"/>
                </a:solidFill>
                <a:latin typeface="DM Sans"/>
              </a:rPr>
              <a:t>The Design System Guide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38800" y="2657475"/>
            <a:ext cx="971550" cy="209550"/>
          </a:xfrm>
          <a:prstGeom prst="rect">
            <a:avLst/>
          </a:prstGeom>
          <a:solidFill>
            <a:srgbClr val="2B7FFF"/>
          </a:solidFill>
          <a:ln>
            <a:solidFill>
              <a:srgbClr val="2B7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76900" y="2686050"/>
            <a:ext cx="8953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8CCEE"/>
                </a:solidFill>
                <a:latin typeface="DM Sans"/>
              </a:rPr>
              <a:t>Romina Kavcic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10500" y="0"/>
            <a:ext cx="438150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500" y="0"/>
            <a:ext cx="4381500" cy="6858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7810500" y="0"/>
            <a:ext cx="4381500" cy="6858000"/>
          </a:xfrm>
          <a:prstGeom prst="rect">
            <a:avLst/>
          </a:prstGeom>
          <a:solidFill>
            <a:srgbClr val="060D1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67700" y="2238375"/>
            <a:ext cx="34671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EF3FF"/>
                </a:solidFill>
                <a:latin typeface="Atkinson Hyperlegible"/>
              </a:rPr>
              <a:t>
                            Le cœur du système</a:t>
            </a:r>
          </a:p>
          <a:p>
            <a:pPr algn="l"/>
            <a:r>
              <a:rPr sz="2400" b="1">
                <a:solidFill>
                  <a:srgbClr val="EEF3FF"/>
                </a:solidFill>
                <a:latin typeface="Atkinson Hyperlegible"/>
              </a:rPr>
              <a:t>reste </a:t>
            </a:r>
            <a:r>
              <a:rPr sz="2400" b="1">
                <a:solidFill>
                  <a:srgbClr val="14D9C8"/>
                </a:solidFill>
                <a:latin typeface="Atkinson Hyperlegible"/>
              </a:rPr>
              <a:t>humain</a:t>
            </a:r>
            <a:r>
              <a:rPr sz="2400" b="1">
                <a:solidFill>
                  <a:srgbClr val="EEF3FF"/>
                </a:solidFill>
                <a:latin typeface="Atkinson Hyperlegible"/>
              </a:rPr>
              <a:t>.
                      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7700" y="3143250"/>
            <a:ext cx="34671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B8CCEE"/>
                </a:solidFill>
                <a:latin typeface="DM Sans"/>
              </a:rPr>
              <a:t>L'intention, la gouvernance, les choix — tout cela appartient aux équipes. Ce que le système agentique ajoute, c'est la rigueur de formuler ces choix de façon à ce qu'ils traversent l'organisation </a:t>
            </a:r>
            <a:r>
              <a:rPr sz="1100" b="1">
                <a:solidFill>
                  <a:srgbClr val="EEF3FF"/>
                </a:solidFill>
                <a:latin typeface="DM Sans"/>
              </a:rPr>
              <a:t>sans se perdre en chemin</a:t>
            </a:r>
            <a:r>
              <a:rPr sz="1100">
                <a:solidFill>
                  <a:srgbClr val="B8CCEE"/>
                </a:solidFill>
                <a:latin typeface="DM Sans"/>
              </a:rPr>
              <a:t>.
                       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1390</Words>
  <Application>Microsoft Office PowerPoint</Application>
  <PresentationFormat>Grand écran</PresentationFormat>
  <Paragraphs>164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0" baseType="lpstr">
      <vt:lpstr>Arial</vt:lpstr>
      <vt:lpstr>Atkinson Hyperlegible</vt:lpstr>
      <vt:lpstr>Calibri</vt:lpstr>
      <vt:lpstr>DM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Guilherme Negreiros</cp:lastModifiedBy>
  <cp:revision>2</cp:revision>
  <dcterms:created xsi:type="dcterms:W3CDTF">2013-01-27T09:14:16Z</dcterms:created>
  <dcterms:modified xsi:type="dcterms:W3CDTF">2026-05-11T19:26:31Z</dcterms:modified>
  <cp:category/>
</cp:coreProperties>
</file>